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1" r:id="rId1"/>
  </p:sldMasterIdLst>
  <p:sldIdLst>
    <p:sldId id="256" r:id="rId2"/>
    <p:sldId id="257" r:id="rId3"/>
    <p:sldId id="258" r:id="rId4"/>
    <p:sldId id="259" r:id="rId5"/>
    <p:sldId id="260" r:id="rId6"/>
    <p:sldId id="262" r:id="rId7"/>
    <p:sldId id="261"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C083E6E3-FA7D-4D7B-A595-EF9225AFEA82}" styleName="淡色スタイル 1 - アクセント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72833802-FEF1-4C79-8D5D-14CF1EAF98D9}" styleName="淡色スタイル 2 - アクセント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FECB4D8-DB02-4DC6-A0A2-4F2EBAE1DC90}" styleName="中間スタイル 1 - アクセント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68D230F3-CF80-4859-8CE7-A43EE81993B5}" styleName="淡色スタイル 1 - アクセント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テーマ スタイル 1 - アクセント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6" autoAdjust="0"/>
    <p:restoredTop sz="94660"/>
  </p:normalViewPr>
  <p:slideViewPr>
    <p:cSldViewPr snapToGrid="0">
      <p:cViewPr varScale="1">
        <p:scale>
          <a:sx n="60" d="100"/>
          <a:sy n="60" d="100"/>
        </p:scale>
        <p:origin x="900"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DD187A1-02CB-44C4-8259-A2661B3C9FFA}" type="doc">
      <dgm:prSet loTypeId="urn:microsoft.com/office/officeart/2005/8/layout/lProcess3" loCatId="process" qsTypeId="urn:microsoft.com/office/officeart/2005/8/quickstyle/simple1" qsCatId="simple" csTypeId="urn:microsoft.com/office/officeart/2005/8/colors/accent1_2" csCatId="accent1" phldr="1"/>
      <dgm:spPr/>
      <dgm:t>
        <a:bodyPr/>
        <a:lstStyle/>
        <a:p>
          <a:endParaRPr kumimoji="1" lang="ja-JP" altLang="en-US"/>
        </a:p>
      </dgm:t>
    </dgm:pt>
    <dgm:pt modelId="{9D8CF7CC-0674-4977-B8E1-691F3F7BE3AA}">
      <dgm:prSet phldrT="[テキスト]"/>
      <dgm:spPr/>
      <dgm:t>
        <a:bodyPr/>
        <a:lstStyle/>
        <a:p>
          <a:r>
            <a:rPr kumimoji="1" lang="ja-JP" altLang="en-US" dirty="0"/>
            <a:t>データ準備・集計</a:t>
          </a:r>
        </a:p>
      </dgm:t>
    </dgm:pt>
    <dgm:pt modelId="{CD5C4827-5333-449B-8498-94275148E2CD}" type="parTrans" cxnId="{736F1D2C-90CA-4565-9696-EAA718380F55}">
      <dgm:prSet/>
      <dgm:spPr/>
      <dgm:t>
        <a:bodyPr/>
        <a:lstStyle/>
        <a:p>
          <a:endParaRPr kumimoji="1" lang="ja-JP" altLang="en-US"/>
        </a:p>
      </dgm:t>
    </dgm:pt>
    <dgm:pt modelId="{ACD7F907-997A-4BE9-BF5B-D295CA07F9F9}" type="sibTrans" cxnId="{736F1D2C-90CA-4565-9696-EAA718380F55}">
      <dgm:prSet/>
      <dgm:spPr/>
      <dgm:t>
        <a:bodyPr/>
        <a:lstStyle/>
        <a:p>
          <a:endParaRPr kumimoji="1" lang="ja-JP" altLang="en-US"/>
        </a:p>
      </dgm:t>
    </dgm:pt>
    <dgm:pt modelId="{D1A5E6AC-71BC-4C1F-AE53-11DA5D4633F2}">
      <dgm:prSet phldrT="[テキスト]"/>
      <dgm:spPr/>
      <dgm:t>
        <a:bodyPr/>
        <a:lstStyle/>
        <a:p>
          <a:r>
            <a:rPr kumimoji="1" lang="ja-JP" altLang="en-US" dirty="0"/>
            <a:t>仮想データ作成（</a:t>
          </a:r>
          <a:r>
            <a:rPr kumimoji="1" lang="en-US" altLang="ja-JP" dirty="0"/>
            <a:t>Python</a:t>
          </a:r>
          <a:r>
            <a:rPr kumimoji="1" lang="ja-JP" altLang="en-US" dirty="0"/>
            <a:t>）</a:t>
          </a:r>
        </a:p>
      </dgm:t>
    </dgm:pt>
    <dgm:pt modelId="{C4A0F485-B511-44C8-AF9E-DC49A006A9CC}" type="parTrans" cxnId="{DEDCD7E1-D9D9-4C4B-8E27-C78D2A5EE4A2}">
      <dgm:prSet/>
      <dgm:spPr/>
      <dgm:t>
        <a:bodyPr/>
        <a:lstStyle/>
        <a:p>
          <a:endParaRPr kumimoji="1" lang="ja-JP" altLang="en-US"/>
        </a:p>
      </dgm:t>
    </dgm:pt>
    <dgm:pt modelId="{FD9CC5E8-081B-4912-BCF2-BD2703C50A6F}" type="sibTrans" cxnId="{DEDCD7E1-D9D9-4C4B-8E27-C78D2A5EE4A2}">
      <dgm:prSet/>
      <dgm:spPr/>
      <dgm:t>
        <a:bodyPr/>
        <a:lstStyle/>
        <a:p>
          <a:endParaRPr kumimoji="1" lang="ja-JP" altLang="en-US"/>
        </a:p>
      </dgm:t>
    </dgm:pt>
    <dgm:pt modelId="{5FCBA923-6159-48B3-90B6-1F8615562579}">
      <dgm:prSet phldrT="[テキスト]"/>
      <dgm:spPr/>
      <dgm:t>
        <a:bodyPr/>
        <a:lstStyle/>
        <a:p>
          <a:r>
            <a:rPr kumimoji="1" lang="ja-JP" altLang="en-US" dirty="0"/>
            <a:t>項目別・属性別で延滞率集計（</a:t>
          </a:r>
          <a:r>
            <a:rPr kumimoji="1" lang="en-US" altLang="ja-JP" dirty="0"/>
            <a:t>SQL)</a:t>
          </a:r>
          <a:endParaRPr kumimoji="1" lang="ja-JP" altLang="en-US" dirty="0"/>
        </a:p>
      </dgm:t>
    </dgm:pt>
    <dgm:pt modelId="{02900AD5-4BA9-4C93-88F5-3412BEC39A63}" type="parTrans" cxnId="{AF5ED9C4-AF6C-407E-8C82-B3B763FF3661}">
      <dgm:prSet/>
      <dgm:spPr/>
      <dgm:t>
        <a:bodyPr/>
        <a:lstStyle/>
        <a:p>
          <a:endParaRPr kumimoji="1" lang="ja-JP" altLang="en-US"/>
        </a:p>
      </dgm:t>
    </dgm:pt>
    <dgm:pt modelId="{5CCC66ED-7A57-44BA-A75B-548B63DB7EF0}" type="sibTrans" cxnId="{AF5ED9C4-AF6C-407E-8C82-B3B763FF3661}">
      <dgm:prSet/>
      <dgm:spPr/>
      <dgm:t>
        <a:bodyPr/>
        <a:lstStyle/>
        <a:p>
          <a:endParaRPr kumimoji="1" lang="ja-JP" altLang="en-US"/>
        </a:p>
      </dgm:t>
    </dgm:pt>
    <dgm:pt modelId="{0B2F6A2A-1EA8-4880-B2EA-95B1F2AFDBF3}">
      <dgm:prSet phldrT="[テキスト]"/>
      <dgm:spPr/>
      <dgm:t>
        <a:bodyPr/>
        <a:lstStyle/>
        <a:p>
          <a:r>
            <a:rPr kumimoji="1" lang="ja-JP" altLang="en-US" dirty="0"/>
            <a:t>可視化・傾向把握</a:t>
          </a:r>
        </a:p>
      </dgm:t>
    </dgm:pt>
    <dgm:pt modelId="{051BE256-0E3F-42DD-838B-F555291300C6}" type="parTrans" cxnId="{EF036118-DC10-45D8-A915-E8F89D1CA667}">
      <dgm:prSet/>
      <dgm:spPr/>
      <dgm:t>
        <a:bodyPr/>
        <a:lstStyle/>
        <a:p>
          <a:endParaRPr kumimoji="1" lang="ja-JP" altLang="en-US"/>
        </a:p>
      </dgm:t>
    </dgm:pt>
    <dgm:pt modelId="{0273C381-F53A-4693-966E-5B4554D01DB0}" type="sibTrans" cxnId="{EF036118-DC10-45D8-A915-E8F89D1CA667}">
      <dgm:prSet/>
      <dgm:spPr/>
      <dgm:t>
        <a:bodyPr/>
        <a:lstStyle/>
        <a:p>
          <a:endParaRPr kumimoji="1" lang="ja-JP" altLang="en-US"/>
        </a:p>
      </dgm:t>
    </dgm:pt>
    <dgm:pt modelId="{A72F673B-693B-447D-8A6B-5C6574DE2807}">
      <dgm:prSet phldrT="[テキスト]"/>
      <dgm:spPr/>
      <dgm:t>
        <a:bodyPr/>
        <a:lstStyle/>
        <a:p>
          <a:r>
            <a:rPr kumimoji="1" lang="ja-JP" altLang="en-US" dirty="0"/>
            <a:t>棒グラフ作成（</a:t>
          </a:r>
          <a:r>
            <a:rPr kumimoji="1" lang="en-US" altLang="ja-JP" dirty="0"/>
            <a:t>Python</a:t>
          </a:r>
          <a:r>
            <a:rPr kumimoji="1" lang="ja-JP" altLang="en-US" dirty="0"/>
            <a:t>）</a:t>
          </a:r>
        </a:p>
      </dgm:t>
    </dgm:pt>
    <dgm:pt modelId="{779434CF-210A-4CE3-B0A4-70E333CEB838}" type="parTrans" cxnId="{BCEC742F-9D1B-43B8-B545-2D968D3BBC6F}">
      <dgm:prSet/>
      <dgm:spPr/>
      <dgm:t>
        <a:bodyPr/>
        <a:lstStyle/>
        <a:p>
          <a:endParaRPr kumimoji="1" lang="ja-JP" altLang="en-US"/>
        </a:p>
      </dgm:t>
    </dgm:pt>
    <dgm:pt modelId="{6154AF84-0BD9-4A70-944E-C89BC312ECB4}" type="sibTrans" cxnId="{BCEC742F-9D1B-43B8-B545-2D968D3BBC6F}">
      <dgm:prSet/>
      <dgm:spPr/>
      <dgm:t>
        <a:bodyPr/>
        <a:lstStyle/>
        <a:p>
          <a:endParaRPr kumimoji="1" lang="ja-JP" altLang="en-US"/>
        </a:p>
      </dgm:t>
    </dgm:pt>
    <dgm:pt modelId="{B388AE48-A9F6-41EC-AE4D-B76F8AEEA65C}">
      <dgm:prSet phldrT="[テキスト]"/>
      <dgm:spPr/>
      <dgm:t>
        <a:bodyPr/>
        <a:lstStyle/>
        <a:p>
          <a:r>
            <a:rPr kumimoji="1" lang="ja-JP" altLang="en-US" dirty="0"/>
            <a:t>延滞率を視覚化してどの項目・属性が目立つか確認</a:t>
          </a:r>
        </a:p>
      </dgm:t>
    </dgm:pt>
    <dgm:pt modelId="{42530759-0AFA-4B1C-BD78-3051A2C1C4C6}" type="parTrans" cxnId="{4821AD1D-4D73-44C8-9CE7-A860E5113DFC}">
      <dgm:prSet/>
      <dgm:spPr/>
      <dgm:t>
        <a:bodyPr/>
        <a:lstStyle/>
        <a:p>
          <a:endParaRPr kumimoji="1" lang="ja-JP" altLang="en-US"/>
        </a:p>
      </dgm:t>
    </dgm:pt>
    <dgm:pt modelId="{A3CA1CC6-8FEF-4F9C-9C78-61B8D4287AFE}" type="sibTrans" cxnId="{4821AD1D-4D73-44C8-9CE7-A860E5113DFC}">
      <dgm:prSet/>
      <dgm:spPr/>
      <dgm:t>
        <a:bodyPr/>
        <a:lstStyle/>
        <a:p>
          <a:endParaRPr kumimoji="1" lang="ja-JP" altLang="en-US"/>
        </a:p>
      </dgm:t>
    </dgm:pt>
    <dgm:pt modelId="{4D5C6E28-B74D-4495-9265-E83ADA59709C}">
      <dgm:prSet phldrT="[テキスト]"/>
      <dgm:spPr/>
      <dgm:t>
        <a:bodyPr/>
        <a:lstStyle/>
        <a:p>
          <a:r>
            <a:rPr kumimoji="1" lang="ja-JP" altLang="en-US" dirty="0"/>
            <a:t>モデル作成・影響度評価</a:t>
          </a:r>
        </a:p>
      </dgm:t>
    </dgm:pt>
    <dgm:pt modelId="{CFBE8860-C2DF-45D7-81D1-5A40A2968EFA}" type="parTrans" cxnId="{2E00DBE8-F0B4-486D-BD15-CB53B8EA42FB}">
      <dgm:prSet/>
      <dgm:spPr/>
      <dgm:t>
        <a:bodyPr/>
        <a:lstStyle/>
        <a:p>
          <a:endParaRPr kumimoji="1" lang="ja-JP" altLang="en-US"/>
        </a:p>
      </dgm:t>
    </dgm:pt>
    <dgm:pt modelId="{F9A55008-8F14-4CD5-83DB-5FFA4ED16B15}" type="sibTrans" cxnId="{2E00DBE8-F0B4-486D-BD15-CB53B8EA42FB}">
      <dgm:prSet/>
      <dgm:spPr/>
      <dgm:t>
        <a:bodyPr/>
        <a:lstStyle/>
        <a:p>
          <a:endParaRPr kumimoji="1" lang="ja-JP" altLang="en-US"/>
        </a:p>
      </dgm:t>
    </dgm:pt>
    <dgm:pt modelId="{D0A64EF4-EFA9-44C7-99E8-1095A15C046F}">
      <dgm:prSet phldrT="[テキスト]"/>
      <dgm:spPr/>
      <dgm:t>
        <a:bodyPr/>
        <a:lstStyle/>
        <a:p>
          <a:r>
            <a:rPr kumimoji="1" lang="ja-JP" altLang="en-US" dirty="0"/>
            <a:t>ロジスティック回帰でモデル作成</a:t>
          </a:r>
        </a:p>
      </dgm:t>
    </dgm:pt>
    <dgm:pt modelId="{AF12F1EF-5124-4C44-8484-7CC204991D77}" type="parTrans" cxnId="{6CAE9979-E108-44C4-A3E2-0FA737C3037F}">
      <dgm:prSet/>
      <dgm:spPr/>
      <dgm:t>
        <a:bodyPr/>
        <a:lstStyle/>
        <a:p>
          <a:endParaRPr kumimoji="1" lang="ja-JP" altLang="en-US"/>
        </a:p>
      </dgm:t>
    </dgm:pt>
    <dgm:pt modelId="{F2B93C02-F9F0-4BFA-8BAC-329AFDE8CEC5}" type="sibTrans" cxnId="{6CAE9979-E108-44C4-A3E2-0FA737C3037F}">
      <dgm:prSet/>
      <dgm:spPr/>
      <dgm:t>
        <a:bodyPr/>
        <a:lstStyle/>
        <a:p>
          <a:endParaRPr kumimoji="1" lang="ja-JP" altLang="en-US"/>
        </a:p>
      </dgm:t>
    </dgm:pt>
    <dgm:pt modelId="{63C97359-2FF9-4ECB-BC49-6B894FAB705A}">
      <dgm:prSet phldrT="[テキスト]"/>
      <dgm:spPr/>
      <dgm:t>
        <a:bodyPr/>
        <a:lstStyle/>
        <a:p>
          <a:r>
            <a:rPr kumimoji="1" lang="ja-JP" altLang="en-US" dirty="0"/>
            <a:t>係数から影響度ランキング作成・優先項目を特定</a:t>
          </a:r>
        </a:p>
      </dgm:t>
    </dgm:pt>
    <dgm:pt modelId="{9E5991FF-550B-475B-A123-895B23B314EA}" type="parTrans" cxnId="{B70214B8-E5C7-44FB-BEE9-560500E7CDE3}">
      <dgm:prSet/>
      <dgm:spPr/>
      <dgm:t>
        <a:bodyPr/>
        <a:lstStyle/>
        <a:p>
          <a:endParaRPr kumimoji="1" lang="ja-JP" altLang="en-US"/>
        </a:p>
      </dgm:t>
    </dgm:pt>
    <dgm:pt modelId="{027A3329-EA38-4D99-9499-2375A12016D8}" type="sibTrans" cxnId="{B70214B8-E5C7-44FB-BEE9-560500E7CDE3}">
      <dgm:prSet/>
      <dgm:spPr/>
      <dgm:t>
        <a:bodyPr/>
        <a:lstStyle/>
        <a:p>
          <a:endParaRPr kumimoji="1" lang="ja-JP" altLang="en-US"/>
        </a:p>
      </dgm:t>
    </dgm:pt>
    <dgm:pt modelId="{F330D532-1401-47BA-A969-FE09F5AB491B}" type="pres">
      <dgm:prSet presAssocID="{EDD187A1-02CB-44C4-8259-A2661B3C9FFA}" presName="Name0" presStyleCnt="0">
        <dgm:presLayoutVars>
          <dgm:chPref val="3"/>
          <dgm:dir/>
          <dgm:animLvl val="lvl"/>
          <dgm:resizeHandles/>
        </dgm:presLayoutVars>
      </dgm:prSet>
      <dgm:spPr/>
    </dgm:pt>
    <dgm:pt modelId="{F7BF3B2E-5A8E-49FA-BC9C-2AFC72ADF8FE}" type="pres">
      <dgm:prSet presAssocID="{9D8CF7CC-0674-4977-B8E1-691F3F7BE3AA}" presName="horFlow" presStyleCnt="0"/>
      <dgm:spPr/>
    </dgm:pt>
    <dgm:pt modelId="{56FC1520-7E9A-4874-BAD4-512F7CF8B93E}" type="pres">
      <dgm:prSet presAssocID="{9D8CF7CC-0674-4977-B8E1-691F3F7BE3AA}" presName="bigChev" presStyleLbl="node1" presStyleIdx="0" presStyleCnt="3"/>
      <dgm:spPr/>
    </dgm:pt>
    <dgm:pt modelId="{3A750469-14DB-46C5-BE01-CF23C3794852}" type="pres">
      <dgm:prSet presAssocID="{C4A0F485-B511-44C8-AF9E-DC49A006A9CC}" presName="parTrans" presStyleCnt="0"/>
      <dgm:spPr/>
    </dgm:pt>
    <dgm:pt modelId="{8BC1DFE8-6CBA-492D-BF0A-35563925C4AE}" type="pres">
      <dgm:prSet presAssocID="{D1A5E6AC-71BC-4C1F-AE53-11DA5D4633F2}" presName="node" presStyleLbl="alignAccFollowNode1" presStyleIdx="0" presStyleCnt="6">
        <dgm:presLayoutVars>
          <dgm:bulletEnabled val="1"/>
        </dgm:presLayoutVars>
      </dgm:prSet>
      <dgm:spPr/>
    </dgm:pt>
    <dgm:pt modelId="{4630D2B9-C7CA-4707-A7CC-0325E306C0CC}" type="pres">
      <dgm:prSet presAssocID="{FD9CC5E8-081B-4912-BCF2-BD2703C50A6F}" presName="sibTrans" presStyleCnt="0"/>
      <dgm:spPr/>
    </dgm:pt>
    <dgm:pt modelId="{47DCEB47-EB84-49BC-AB68-93B7EF96EED7}" type="pres">
      <dgm:prSet presAssocID="{5FCBA923-6159-48B3-90B6-1F8615562579}" presName="node" presStyleLbl="alignAccFollowNode1" presStyleIdx="1" presStyleCnt="6">
        <dgm:presLayoutVars>
          <dgm:bulletEnabled val="1"/>
        </dgm:presLayoutVars>
      </dgm:prSet>
      <dgm:spPr/>
    </dgm:pt>
    <dgm:pt modelId="{1B6553C2-E4A4-4CB4-9190-BDA5A4470E16}" type="pres">
      <dgm:prSet presAssocID="{9D8CF7CC-0674-4977-B8E1-691F3F7BE3AA}" presName="vSp" presStyleCnt="0"/>
      <dgm:spPr/>
    </dgm:pt>
    <dgm:pt modelId="{9FBA5E79-6913-4491-BBC4-2F33E4C50F80}" type="pres">
      <dgm:prSet presAssocID="{0B2F6A2A-1EA8-4880-B2EA-95B1F2AFDBF3}" presName="horFlow" presStyleCnt="0"/>
      <dgm:spPr/>
    </dgm:pt>
    <dgm:pt modelId="{A33D623E-9336-4B6F-B1CE-DD8E4955DDFC}" type="pres">
      <dgm:prSet presAssocID="{0B2F6A2A-1EA8-4880-B2EA-95B1F2AFDBF3}" presName="bigChev" presStyleLbl="node1" presStyleIdx="1" presStyleCnt="3"/>
      <dgm:spPr/>
    </dgm:pt>
    <dgm:pt modelId="{C66F3EB6-CA69-434D-9B53-81B66C7976E0}" type="pres">
      <dgm:prSet presAssocID="{779434CF-210A-4CE3-B0A4-70E333CEB838}" presName="parTrans" presStyleCnt="0"/>
      <dgm:spPr/>
    </dgm:pt>
    <dgm:pt modelId="{79D0ECC4-23DF-4A79-8A59-9B314A695B4C}" type="pres">
      <dgm:prSet presAssocID="{A72F673B-693B-447D-8A6B-5C6574DE2807}" presName="node" presStyleLbl="alignAccFollowNode1" presStyleIdx="2" presStyleCnt="6">
        <dgm:presLayoutVars>
          <dgm:bulletEnabled val="1"/>
        </dgm:presLayoutVars>
      </dgm:prSet>
      <dgm:spPr/>
    </dgm:pt>
    <dgm:pt modelId="{42F81F1B-31D5-4A71-B4C0-40F2769A5A2F}" type="pres">
      <dgm:prSet presAssocID="{6154AF84-0BD9-4A70-944E-C89BC312ECB4}" presName="sibTrans" presStyleCnt="0"/>
      <dgm:spPr/>
    </dgm:pt>
    <dgm:pt modelId="{80C57ADA-8D09-4295-A538-6F162068CC86}" type="pres">
      <dgm:prSet presAssocID="{B388AE48-A9F6-41EC-AE4D-B76F8AEEA65C}" presName="node" presStyleLbl="alignAccFollowNode1" presStyleIdx="3" presStyleCnt="6">
        <dgm:presLayoutVars>
          <dgm:bulletEnabled val="1"/>
        </dgm:presLayoutVars>
      </dgm:prSet>
      <dgm:spPr/>
    </dgm:pt>
    <dgm:pt modelId="{28DC0077-9AD3-4E76-8078-0D32EE3733DD}" type="pres">
      <dgm:prSet presAssocID="{0B2F6A2A-1EA8-4880-B2EA-95B1F2AFDBF3}" presName="vSp" presStyleCnt="0"/>
      <dgm:spPr/>
    </dgm:pt>
    <dgm:pt modelId="{2117347E-E701-4E4B-8AEE-7EB129B06681}" type="pres">
      <dgm:prSet presAssocID="{4D5C6E28-B74D-4495-9265-E83ADA59709C}" presName="horFlow" presStyleCnt="0"/>
      <dgm:spPr/>
    </dgm:pt>
    <dgm:pt modelId="{DAF8A498-940E-4071-AF75-D0F07588BA20}" type="pres">
      <dgm:prSet presAssocID="{4D5C6E28-B74D-4495-9265-E83ADA59709C}" presName="bigChev" presStyleLbl="node1" presStyleIdx="2" presStyleCnt="3"/>
      <dgm:spPr/>
    </dgm:pt>
    <dgm:pt modelId="{AA2AC829-3108-4FCC-A5ED-EAD1B5B86A5B}" type="pres">
      <dgm:prSet presAssocID="{AF12F1EF-5124-4C44-8484-7CC204991D77}" presName="parTrans" presStyleCnt="0"/>
      <dgm:spPr/>
    </dgm:pt>
    <dgm:pt modelId="{E93EF3A0-9127-409E-B024-9E38BF36D179}" type="pres">
      <dgm:prSet presAssocID="{D0A64EF4-EFA9-44C7-99E8-1095A15C046F}" presName="node" presStyleLbl="alignAccFollowNode1" presStyleIdx="4" presStyleCnt="6">
        <dgm:presLayoutVars>
          <dgm:bulletEnabled val="1"/>
        </dgm:presLayoutVars>
      </dgm:prSet>
      <dgm:spPr/>
    </dgm:pt>
    <dgm:pt modelId="{11A26B69-BF77-4BA3-8495-05E2E78B38EB}" type="pres">
      <dgm:prSet presAssocID="{F2B93C02-F9F0-4BFA-8BAC-329AFDE8CEC5}" presName="sibTrans" presStyleCnt="0"/>
      <dgm:spPr/>
    </dgm:pt>
    <dgm:pt modelId="{A3E92E5E-94A2-46DD-AE30-22D63C57AE3A}" type="pres">
      <dgm:prSet presAssocID="{63C97359-2FF9-4ECB-BC49-6B894FAB705A}" presName="node" presStyleLbl="alignAccFollowNode1" presStyleIdx="5" presStyleCnt="6">
        <dgm:presLayoutVars>
          <dgm:bulletEnabled val="1"/>
        </dgm:presLayoutVars>
      </dgm:prSet>
      <dgm:spPr/>
    </dgm:pt>
  </dgm:ptLst>
  <dgm:cxnLst>
    <dgm:cxn modelId="{8D5DEC15-75C3-4A85-AE28-5AAFED203159}" type="presOf" srcId="{B388AE48-A9F6-41EC-AE4D-B76F8AEEA65C}" destId="{80C57ADA-8D09-4295-A538-6F162068CC86}" srcOrd="0" destOrd="0" presId="urn:microsoft.com/office/officeart/2005/8/layout/lProcess3"/>
    <dgm:cxn modelId="{EF036118-DC10-45D8-A915-E8F89D1CA667}" srcId="{EDD187A1-02CB-44C4-8259-A2661B3C9FFA}" destId="{0B2F6A2A-1EA8-4880-B2EA-95B1F2AFDBF3}" srcOrd="1" destOrd="0" parTransId="{051BE256-0E3F-42DD-838B-F555291300C6}" sibTransId="{0273C381-F53A-4693-966E-5B4554D01DB0}"/>
    <dgm:cxn modelId="{4821AD1D-4D73-44C8-9CE7-A860E5113DFC}" srcId="{0B2F6A2A-1EA8-4880-B2EA-95B1F2AFDBF3}" destId="{B388AE48-A9F6-41EC-AE4D-B76F8AEEA65C}" srcOrd="1" destOrd="0" parTransId="{42530759-0AFA-4B1C-BD78-3051A2C1C4C6}" sibTransId="{A3CA1CC6-8FEF-4F9C-9C78-61B8D4287AFE}"/>
    <dgm:cxn modelId="{B2DC822A-CB5D-4801-9850-CBD647DA785E}" type="presOf" srcId="{EDD187A1-02CB-44C4-8259-A2661B3C9FFA}" destId="{F330D532-1401-47BA-A969-FE09F5AB491B}" srcOrd="0" destOrd="0" presId="urn:microsoft.com/office/officeart/2005/8/layout/lProcess3"/>
    <dgm:cxn modelId="{736F1D2C-90CA-4565-9696-EAA718380F55}" srcId="{EDD187A1-02CB-44C4-8259-A2661B3C9FFA}" destId="{9D8CF7CC-0674-4977-B8E1-691F3F7BE3AA}" srcOrd="0" destOrd="0" parTransId="{CD5C4827-5333-449B-8498-94275148E2CD}" sibTransId="{ACD7F907-997A-4BE9-BF5B-D295CA07F9F9}"/>
    <dgm:cxn modelId="{BCEC742F-9D1B-43B8-B545-2D968D3BBC6F}" srcId="{0B2F6A2A-1EA8-4880-B2EA-95B1F2AFDBF3}" destId="{A72F673B-693B-447D-8A6B-5C6574DE2807}" srcOrd="0" destOrd="0" parTransId="{779434CF-210A-4CE3-B0A4-70E333CEB838}" sibTransId="{6154AF84-0BD9-4A70-944E-C89BC312ECB4}"/>
    <dgm:cxn modelId="{C2CD7835-2E06-437F-9931-C0EF091B20EC}" type="presOf" srcId="{9D8CF7CC-0674-4977-B8E1-691F3F7BE3AA}" destId="{56FC1520-7E9A-4874-BAD4-512F7CF8B93E}" srcOrd="0" destOrd="0" presId="urn:microsoft.com/office/officeart/2005/8/layout/lProcess3"/>
    <dgm:cxn modelId="{3A9DB861-9239-4870-BE10-33474FAFC7ED}" type="presOf" srcId="{D1A5E6AC-71BC-4C1F-AE53-11DA5D4633F2}" destId="{8BC1DFE8-6CBA-492D-BF0A-35563925C4AE}" srcOrd="0" destOrd="0" presId="urn:microsoft.com/office/officeart/2005/8/layout/lProcess3"/>
    <dgm:cxn modelId="{97761962-24C4-4769-A9E4-E71C2A248634}" type="presOf" srcId="{0B2F6A2A-1EA8-4880-B2EA-95B1F2AFDBF3}" destId="{A33D623E-9336-4B6F-B1CE-DD8E4955DDFC}" srcOrd="0" destOrd="0" presId="urn:microsoft.com/office/officeart/2005/8/layout/lProcess3"/>
    <dgm:cxn modelId="{6A0B5946-ADF7-4061-87BF-A1A1879D67AA}" type="presOf" srcId="{63C97359-2FF9-4ECB-BC49-6B894FAB705A}" destId="{A3E92E5E-94A2-46DD-AE30-22D63C57AE3A}" srcOrd="0" destOrd="0" presId="urn:microsoft.com/office/officeart/2005/8/layout/lProcess3"/>
    <dgm:cxn modelId="{6CAE9979-E108-44C4-A3E2-0FA737C3037F}" srcId="{4D5C6E28-B74D-4495-9265-E83ADA59709C}" destId="{D0A64EF4-EFA9-44C7-99E8-1095A15C046F}" srcOrd="0" destOrd="0" parTransId="{AF12F1EF-5124-4C44-8484-7CC204991D77}" sibTransId="{F2B93C02-F9F0-4BFA-8BAC-329AFDE8CEC5}"/>
    <dgm:cxn modelId="{7D533C9A-98A9-4DD5-9F40-94B8F00D834A}" type="presOf" srcId="{A72F673B-693B-447D-8A6B-5C6574DE2807}" destId="{79D0ECC4-23DF-4A79-8A59-9B314A695B4C}" srcOrd="0" destOrd="0" presId="urn:microsoft.com/office/officeart/2005/8/layout/lProcess3"/>
    <dgm:cxn modelId="{B70214B8-E5C7-44FB-BEE9-560500E7CDE3}" srcId="{4D5C6E28-B74D-4495-9265-E83ADA59709C}" destId="{63C97359-2FF9-4ECB-BC49-6B894FAB705A}" srcOrd="1" destOrd="0" parTransId="{9E5991FF-550B-475B-A123-895B23B314EA}" sibTransId="{027A3329-EA38-4D99-9499-2375A12016D8}"/>
    <dgm:cxn modelId="{3DD244BF-76D0-46BC-A7CC-C785DD6E115A}" type="presOf" srcId="{D0A64EF4-EFA9-44C7-99E8-1095A15C046F}" destId="{E93EF3A0-9127-409E-B024-9E38BF36D179}" srcOrd="0" destOrd="0" presId="urn:microsoft.com/office/officeart/2005/8/layout/lProcess3"/>
    <dgm:cxn modelId="{AF5ED9C4-AF6C-407E-8C82-B3B763FF3661}" srcId="{9D8CF7CC-0674-4977-B8E1-691F3F7BE3AA}" destId="{5FCBA923-6159-48B3-90B6-1F8615562579}" srcOrd="1" destOrd="0" parTransId="{02900AD5-4BA9-4C93-88F5-3412BEC39A63}" sibTransId="{5CCC66ED-7A57-44BA-A75B-548B63DB7EF0}"/>
    <dgm:cxn modelId="{B1F0E8C5-352B-48CC-963B-AE3FB6DA5008}" type="presOf" srcId="{5FCBA923-6159-48B3-90B6-1F8615562579}" destId="{47DCEB47-EB84-49BC-AB68-93B7EF96EED7}" srcOrd="0" destOrd="0" presId="urn:microsoft.com/office/officeart/2005/8/layout/lProcess3"/>
    <dgm:cxn modelId="{207BCBCD-91FA-49B6-A4C4-E1AF62C8F065}" type="presOf" srcId="{4D5C6E28-B74D-4495-9265-E83ADA59709C}" destId="{DAF8A498-940E-4071-AF75-D0F07588BA20}" srcOrd="0" destOrd="0" presId="urn:microsoft.com/office/officeart/2005/8/layout/lProcess3"/>
    <dgm:cxn modelId="{DEDCD7E1-D9D9-4C4B-8E27-C78D2A5EE4A2}" srcId="{9D8CF7CC-0674-4977-B8E1-691F3F7BE3AA}" destId="{D1A5E6AC-71BC-4C1F-AE53-11DA5D4633F2}" srcOrd="0" destOrd="0" parTransId="{C4A0F485-B511-44C8-AF9E-DC49A006A9CC}" sibTransId="{FD9CC5E8-081B-4912-BCF2-BD2703C50A6F}"/>
    <dgm:cxn modelId="{2E00DBE8-F0B4-486D-BD15-CB53B8EA42FB}" srcId="{EDD187A1-02CB-44C4-8259-A2661B3C9FFA}" destId="{4D5C6E28-B74D-4495-9265-E83ADA59709C}" srcOrd="2" destOrd="0" parTransId="{CFBE8860-C2DF-45D7-81D1-5A40A2968EFA}" sibTransId="{F9A55008-8F14-4CD5-83DB-5FFA4ED16B15}"/>
    <dgm:cxn modelId="{8D3A4383-71B8-4F65-B01D-262544B80A36}" type="presParOf" srcId="{F330D532-1401-47BA-A969-FE09F5AB491B}" destId="{F7BF3B2E-5A8E-49FA-BC9C-2AFC72ADF8FE}" srcOrd="0" destOrd="0" presId="urn:microsoft.com/office/officeart/2005/8/layout/lProcess3"/>
    <dgm:cxn modelId="{D4D0D43D-A127-4A6F-843A-68E0C9E000E0}" type="presParOf" srcId="{F7BF3B2E-5A8E-49FA-BC9C-2AFC72ADF8FE}" destId="{56FC1520-7E9A-4874-BAD4-512F7CF8B93E}" srcOrd="0" destOrd="0" presId="urn:microsoft.com/office/officeart/2005/8/layout/lProcess3"/>
    <dgm:cxn modelId="{4CF2E677-1FFE-4954-952F-0F44437009C6}" type="presParOf" srcId="{F7BF3B2E-5A8E-49FA-BC9C-2AFC72ADF8FE}" destId="{3A750469-14DB-46C5-BE01-CF23C3794852}" srcOrd="1" destOrd="0" presId="urn:microsoft.com/office/officeart/2005/8/layout/lProcess3"/>
    <dgm:cxn modelId="{8ABD6A63-21F1-4F9F-9E4C-EE2B47C6B02D}" type="presParOf" srcId="{F7BF3B2E-5A8E-49FA-BC9C-2AFC72ADF8FE}" destId="{8BC1DFE8-6CBA-492D-BF0A-35563925C4AE}" srcOrd="2" destOrd="0" presId="urn:microsoft.com/office/officeart/2005/8/layout/lProcess3"/>
    <dgm:cxn modelId="{BA455BF0-4089-4D41-8AA2-8E071F286615}" type="presParOf" srcId="{F7BF3B2E-5A8E-49FA-BC9C-2AFC72ADF8FE}" destId="{4630D2B9-C7CA-4707-A7CC-0325E306C0CC}" srcOrd="3" destOrd="0" presId="urn:microsoft.com/office/officeart/2005/8/layout/lProcess3"/>
    <dgm:cxn modelId="{7CB886B7-5BE2-4070-BC2A-A9A0560E3A70}" type="presParOf" srcId="{F7BF3B2E-5A8E-49FA-BC9C-2AFC72ADF8FE}" destId="{47DCEB47-EB84-49BC-AB68-93B7EF96EED7}" srcOrd="4" destOrd="0" presId="urn:microsoft.com/office/officeart/2005/8/layout/lProcess3"/>
    <dgm:cxn modelId="{F29A99F0-837B-467B-AC53-D57A648E2610}" type="presParOf" srcId="{F330D532-1401-47BA-A969-FE09F5AB491B}" destId="{1B6553C2-E4A4-4CB4-9190-BDA5A4470E16}" srcOrd="1" destOrd="0" presId="urn:microsoft.com/office/officeart/2005/8/layout/lProcess3"/>
    <dgm:cxn modelId="{D58FE00C-1D8A-4019-B99D-8CC866C475BC}" type="presParOf" srcId="{F330D532-1401-47BA-A969-FE09F5AB491B}" destId="{9FBA5E79-6913-4491-BBC4-2F33E4C50F80}" srcOrd="2" destOrd="0" presId="urn:microsoft.com/office/officeart/2005/8/layout/lProcess3"/>
    <dgm:cxn modelId="{637B6B1D-9254-4E6D-9AA1-B41EF11CD5CD}" type="presParOf" srcId="{9FBA5E79-6913-4491-BBC4-2F33E4C50F80}" destId="{A33D623E-9336-4B6F-B1CE-DD8E4955DDFC}" srcOrd="0" destOrd="0" presId="urn:microsoft.com/office/officeart/2005/8/layout/lProcess3"/>
    <dgm:cxn modelId="{A113C272-6046-4E7D-A20A-B6728FB719C7}" type="presParOf" srcId="{9FBA5E79-6913-4491-BBC4-2F33E4C50F80}" destId="{C66F3EB6-CA69-434D-9B53-81B66C7976E0}" srcOrd="1" destOrd="0" presId="urn:microsoft.com/office/officeart/2005/8/layout/lProcess3"/>
    <dgm:cxn modelId="{6E7F1741-6C49-46BD-8CB8-5AD7C5B37650}" type="presParOf" srcId="{9FBA5E79-6913-4491-BBC4-2F33E4C50F80}" destId="{79D0ECC4-23DF-4A79-8A59-9B314A695B4C}" srcOrd="2" destOrd="0" presId="urn:microsoft.com/office/officeart/2005/8/layout/lProcess3"/>
    <dgm:cxn modelId="{32179404-4C68-4F56-ADA2-CF845DA6084F}" type="presParOf" srcId="{9FBA5E79-6913-4491-BBC4-2F33E4C50F80}" destId="{42F81F1B-31D5-4A71-B4C0-40F2769A5A2F}" srcOrd="3" destOrd="0" presId="urn:microsoft.com/office/officeart/2005/8/layout/lProcess3"/>
    <dgm:cxn modelId="{63BC5A67-DDEE-4108-AC40-9CE1C604E9A6}" type="presParOf" srcId="{9FBA5E79-6913-4491-BBC4-2F33E4C50F80}" destId="{80C57ADA-8D09-4295-A538-6F162068CC86}" srcOrd="4" destOrd="0" presId="urn:microsoft.com/office/officeart/2005/8/layout/lProcess3"/>
    <dgm:cxn modelId="{0FF59E69-0492-4CB3-BF08-3EE3F0CB29FA}" type="presParOf" srcId="{F330D532-1401-47BA-A969-FE09F5AB491B}" destId="{28DC0077-9AD3-4E76-8078-0D32EE3733DD}" srcOrd="3" destOrd="0" presId="urn:microsoft.com/office/officeart/2005/8/layout/lProcess3"/>
    <dgm:cxn modelId="{5AF4F231-CE6D-4AFF-9001-1E7AB61963A9}" type="presParOf" srcId="{F330D532-1401-47BA-A969-FE09F5AB491B}" destId="{2117347E-E701-4E4B-8AEE-7EB129B06681}" srcOrd="4" destOrd="0" presId="urn:microsoft.com/office/officeart/2005/8/layout/lProcess3"/>
    <dgm:cxn modelId="{81A04F03-8731-4F79-9C48-0262E7BEDB57}" type="presParOf" srcId="{2117347E-E701-4E4B-8AEE-7EB129B06681}" destId="{DAF8A498-940E-4071-AF75-D0F07588BA20}" srcOrd="0" destOrd="0" presId="urn:microsoft.com/office/officeart/2005/8/layout/lProcess3"/>
    <dgm:cxn modelId="{143E9E71-FBD4-4C74-AF99-8C1024A54303}" type="presParOf" srcId="{2117347E-E701-4E4B-8AEE-7EB129B06681}" destId="{AA2AC829-3108-4FCC-A5ED-EAD1B5B86A5B}" srcOrd="1" destOrd="0" presId="urn:microsoft.com/office/officeart/2005/8/layout/lProcess3"/>
    <dgm:cxn modelId="{C9388FD5-C206-4FEA-ADB8-52E110B80946}" type="presParOf" srcId="{2117347E-E701-4E4B-8AEE-7EB129B06681}" destId="{E93EF3A0-9127-409E-B024-9E38BF36D179}" srcOrd="2" destOrd="0" presId="urn:microsoft.com/office/officeart/2005/8/layout/lProcess3"/>
    <dgm:cxn modelId="{C5F3D103-28EA-44DD-B323-4D39D26FFA60}" type="presParOf" srcId="{2117347E-E701-4E4B-8AEE-7EB129B06681}" destId="{11A26B69-BF77-4BA3-8495-05E2E78B38EB}" srcOrd="3" destOrd="0" presId="urn:microsoft.com/office/officeart/2005/8/layout/lProcess3"/>
    <dgm:cxn modelId="{C2D32719-4A70-43D5-9A78-035214BE28AF}" type="presParOf" srcId="{2117347E-E701-4E4B-8AEE-7EB129B06681}" destId="{A3E92E5E-94A2-46DD-AE30-22D63C57AE3A}" srcOrd="4" destOrd="0" presId="urn:microsoft.com/office/officeart/2005/8/layout/l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FC1520-7E9A-4874-BAD4-512F7CF8B93E}">
      <dsp:nvSpPr>
        <dsp:cNvPr id="0" name=""/>
        <dsp:cNvSpPr/>
      </dsp:nvSpPr>
      <dsp:spPr>
        <a:xfrm>
          <a:off x="731787" y="2250"/>
          <a:ext cx="2954982" cy="1181992"/>
        </a:xfrm>
        <a:prstGeom prst="chevron">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13970" rIns="0" bIns="13970" numCol="1" spcCol="1270" anchor="ctr" anchorCtr="0">
          <a:noAutofit/>
        </a:bodyPr>
        <a:lstStyle/>
        <a:p>
          <a:pPr marL="0" lvl="0" indent="0" algn="ctr" defTabSz="977900">
            <a:lnSpc>
              <a:spcPct val="90000"/>
            </a:lnSpc>
            <a:spcBef>
              <a:spcPct val="0"/>
            </a:spcBef>
            <a:spcAft>
              <a:spcPct val="35000"/>
            </a:spcAft>
            <a:buNone/>
          </a:pPr>
          <a:r>
            <a:rPr kumimoji="1" lang="ja-JP" altLang="en-US" sz="2200" kern="1200" dirty="0"/>
            <a:t>データ準備・集計</a:t>
          </a:r>
        </a:p>
      </dsp:txBody>
      <dsp:txXfrm>
        <a:off x="1322783" y="2250"/>
        <a:ext cx="1772990" cy="1181992"/>
      </dsp:txXfrm>
    </dsp:sp>
    <dsp:sp modelId="{8BC1DFE8-6CBA-492D-BF0A-35563925C4AE}">
      <dsp:nvSpPr>
        <dsp:cNvPr id="0" name=""/>
        <dsp:cNvSpPr/>
      </dsp:nvSpPr>
      <dsp:spPr>
        <a:xfrm>
          <a:off x="3302622" y="102719"/>
          <a:ext cx="2452635" cy="981054"/>
        </a:xfrm>
        <a:prstGeom prst="chevron">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8890" rIns="0" bIns="8890" numCol="1" spcCol="1270" anchor="ctr" anchorCtr="0">
          <a:noAutofit/>
        </a:bodyPr>
        <a:lstStyle/>
        <a:p>
          <a:pPr marL="0" lvl="0" indent="0" algn="ctr" defTabSz="622300">
            <a:lnSpc>
              <a:spcPct val="90000"/>
            </a:lnSpc>
            <a:spcBef>
              <a:spcPct val="0"/>
            </a:spcBef>
            <a:spcAft>
              <a:spcPct val="35000"/>
            </a:spcAft>
            <a:buNone/>
          </a:pPr>
          <a:r>
            <a:rPr kumimoji="1" lang="ja-JP" altLang="en-US" sz="1400" kern="1200" dirty="0"/>
            <a:t>仮想データ作成（</a:t>
          </a:r>
          <a:r>
            <a:rPr kumimoji="1" lang="en-US" altLang="ja-JP" sz="1400" kern="1200" dirty="0"/>
            <a:t>Python</a:t>
          </a:r>
          <a:r>
            <a:rPr kumimoji="1" lang="ja-JP" altLang="en-US" sz="1400" kern="1200" dirty="0"/>
            <a:t>）</a:t>
          </a:r>
        </a:p>
      </dsp:txBody>
      <dsp:txXfrm>
        <a:off x="3793149" y="102719"/>
        <a:ext cx="1471581" cy="981054"/>
      </dsp:txXfrm>
    </dsp:sp>
    <dsp:sp modelId="{47DCEB47-EB84-49BC-AB68-93B7EF96EED7}">
      <dsp:nvSpPr>
        <dsp:cNvPr id="0" name=""/>
        <dsp:cNvSpPr/>
      </dsp:nvSpPr>
      <dsp:spPr>
        <a:xfrm>
          <a:off x="5411888" y="102719"/>
          <a:ext cx="2452635" cy="981054"/>
        </a:xfrm>
        <a:prstGeom prst="chevron">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8890" rIns="0" bIns="8890" numCol="1" spcCol="1270" anchor="ctr" anchorCtr="0">
          <a:noAutofit/>
        </a:bodyPr>
        <a:lstStyle/>
        <a:p>
          <a:pPr marL="0" lvl="0" indent="0" algn="ctr" defTabSz="622300">
            <a:lnSpc>
              <a:spcPct val="90000"/>
            </a:lnSpc>
            <a:spcBef>
              <a:spcPct val="0"/>
            </a:spcBef>
            <a:spcAft>
              <a:spcPct val="35000"/>
            </a:spcAft>
            <a:buNone/>
          </a:pPr>
          <a:r>
            <a:rPr kumimoji="1" lang="ja-JP" altLang="en-US" sz="1400" kern="1200" dirty="0"/>
            <a:t>項目別・属性別で延滞率集計（</a:t>
          </a:r>
          <a:r>
            <a:rPr kumimoji="1" lang="en-US" altLang="ja-JP" sz="1400" kern="1200" dirty="0"/>
            <a:t>SQL)</a:t>
          </a:r>
          <a:endParaRPr kumimoji="1" lang="ja-JP" altLang="en-US" sz="1400" kern="1200" dirty="0"/>
        </a:p>
      </dsp:txBody>
      <dsp:txXfrm>
        <a:off x="5902415" y="102719"/>
        <a:ext cx="1471581" cy="981054"/>
      </dsp:txXfrm>
    </dsp:sp>
    <dsp:sp modelId="{A33D623E-9336-4B6F-B1CE-DD8E4955DDFC}">
      <dsp:nvSpPr>
        <dsp:cNvPr id="0" name=""/>
        <dsp:cNvSpPr/>
      </dsp:nvSpPr>
      <dsp:spPr>
        <a:xfrm>
          <a:off x="731787" y="1349722"/>
          <a:ext cx="2954982" cy="1181992"/>
        </a:xfrm>
        <a:prstGeom prst="chevron">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13970" rIns="0" bIns="13970" numCol="1" spcCol="1270" anchor="ctr" anchorCtr="0">
          <a:noAutofit/>
        </a:bodyPr>
        <a:lstStyle/>
        <a:p>
          <a:pPr marL="0" lvl="0" indent="0" algn="ctr" defTabSz="977900">
            <a:lnSpc>
              <a:spcPct val="90000"/>
            </a:lnSpc>
            <a:spcBef>
              <a:spcPct val="0"/>
            </a:spcBef>
            <a:spcAft>
              <a:spcPct val="35000"/>
            </a:spcAft>
            <a:buNone/>
          </a:pPr>
          <a:r>
            <a:rPr kumimoji="1" lang="ja-JP" altLang="en-US" sz="2200" kern="1200" dirty="0"/>
            <a:t>可視化・傾向把握</a:t>
          </a:r>
        </a:p>
      </dsp:txBody>
      <dsp:txXfrm>
        <a:off x="1322783" y="1349722"/>
        <a:ext cx="1772990" cy="1181992"/>
      </dsp:txXfrm>
    </dsp:sp>
    <dsp:sp modelId="{79D0ECC4-23DF-4A79-8A59-9B314A695B4C}">
      <dsp:nvSpPr>
        <dsp:cNvPr id="0" name=""/>
        <dsp:cNvSpPr/>
      </dsp:nvSpPr>
      <dsp:spPr>
        <a:xfrm>
          <a:off x="3302622" y="1450191"/>
          <a:ext cx="2452635" cy="981054"/>
        </a:xfrm>
        <a:prstGeom prst="chevron">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8890" rIns="0" bIns="8890" numCol="1" spcCol="1270" anchor="ctr" anchorCtr="0">
          <a:noAutofit/>
        </a:bodyPr>
        <a:lstStyle/>
        <a:p>
          <a:pPr marL="0" lvl="0" indent="0" algn="ctr" defTabSz="622300">
            <a:lnSpc>
              <a:spcPct val="90000"/>
            </a:lnSpc>
            <a:spcBef>
              <a:spcPct val="0"/>
            </a:spcBef>
            <a:spcAft>
              <a:spcPct val="35000"/>
            </a:spcAft>
            <a:buNone/>
          </a:pPr>
          <a:r>
            <a:rPr kumimoji="1" lang="ja-JP" altLang="en-US" sz="1400" kern="1200" dirty="0"/>
            <a:t>棒グラフ作成（</a:t>
          </a:r>
          <a:r>
            <a:rPr kumimoji="1" lang="en-US" altLang="ja-JP" sz="1400" kern="1200" dirty="0"/>
            <a:t>Python</a:t>
          </a:r>
          <a:r>
            <a:rPr kumimoji="1" lang="ja-JP" altLang="en-US" sz="1400" kern="1200" dirty="0"/>
            <a:t>）</a:t>
          </a:r>
        </a:p>
      </dsp:txBody>
      <dsp:txXfrm>
        <a:off x="3793149" y="1450191"/>
        <a:ext cx="1471581" cy="981054"/>
      </dsp:txXfrm>
    </dsp:sp>
    <dsp:sp modelId="{80C57ADA-8D09-4295-A538-6F162068CC86}">
      <dsp:nvSpPr>
        <dsp:cNvPr id="0" name=""/>
        <dsp:cNvSpPr/>
      </dsp:nvSpPr>
      <dsp:spPr>
        <a:xfrm>
          <a:off x="5411888" y="1450191"/>
          <a:ext cx="2452635" cy="981054"/>
        </a:xfrm>
        <a:prstGeom prst="chevron">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8890" rIns="0" bIns="8890" numCol="1" spcCol="1270" anchor="ctr" anchorCtr="0">
          <a:noAutofit/>
        </a:bodyPr>
        <a:lstStyle/>
        <a:p>
          <a:pPr marL="0" lvl="0" indent="0" algn="ctr" defTabSz="622300">
            <a:lnSpc>
              <a:spcPct val="90000"/>
            </a:lnSpc>
            <a:spcBef>
              <a:spcPct val="0"/>
            </a:spcBef>
            <a:spcAft>
              <a:spcPct val="35000"/>
            </a:spcAft>
            <a:buNone/>
          </a:pPr>
          <a:r>
            <a:rPr kumimoji="1" lang="ja-JP" altLang="en-US" sz="1400" kern="1200" dirty="0"/>
            <a:t>延滞率を視覚化してどの項目・属性が目立つか確認</a:t>
          </a:r>
        </a:p>
      </dsp:txBody>
      <dsp:txXfrm>
        <a:off x="5902415" y="1450191"/>
        <a:ext cx="1471581" cy="981054"/>
      </dsp:txXfrm>
    </dsp:sp>
    <dsp:sp modelId="{DAF8A498-940E-4071-AF75-D0F07588BA20}">
      <dsp:nvSpPr>
        <dsp:cNvPr id="0" name=""/>
        <dsp:cNvSpPr/>
      </dsp:nvSpPr>
      <dsp:spPr>
        <a:xfrm>
          <a:off x="731787" y="2697193"/>
          <a:ext cx="2954982" cy="1181992"/>
        </a:xfrm>
        <a:prstGeom prst="chevron">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13970" rIns="0" bIns="13970" numCol="1" spcCol="1270" anchor="ctr" anchorCtr="0">
          <a:noAutofit/>
        </a:bodyPr>
        <a:lstStyle/>
        <a:p>
          <a:pPr marL="0" lvl="0" indent="0" algn="ctr" defTabSz="977900">
            <a:lnSpc>
              <a:spcPct val="90000"/>
            </a:lnSpc>
            <a:spcBef>
              <a:spcPct val="0"/>
            </a:spcBef>
            <a:spcAft>
              <a:spcPct val="35000"/>
            </a:spcAft>
            <a:buNone/>
          </a:pPr>
          <a:r>
            <a:rPr kumimoji="1" lang="ja-JP" altLang="en-US" sz="2200" kern="1200" dirty="0"/>
            <a:t>モデル作成・影響度評価</a:t>
          </a:r>
        </a:p>
      </dsp:txBody>
      <dsp:txXfrm>
        <a:off x="1322783" y="2697193"/>
        <a:ext cx="1772990" cy="1181992"/>
      </dsp:txXfrm>
    </dsp:sp>
    <dsp:sp modelId="{E93EF3A0-9127-409E-B024-9E38BF36D179}">
      <dsp:nvSpPr>
        <dsp:cNvPr id="0" name=""/>
        <dsp:cNvSpPr/>
      </dsp:nvSpPr>
      <dsp:spPr>
        <a:xfrm>
          <a:off x="3302622" y="2797663"/>
          <a:ext cx="2452635" cy="981054"/>
        </a:xfrm>
        <a:prstGeom prst="chevron">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8890" rIns="0" bIns="8890" numCol="1" spcCol="1270" anchor="ctr" anchorCtr="0">
          <a:noAutofit/>
        </a:bodyPr>
        <a:lstStyle/>
        <a:p>
          <a:pPr marL="0" lvl="0" indent="0" algn="ctr" defTabSz="622300">
            <a:lnSpc>
              <a:spcPct val="90000"/>
            </a:lnSpc>
            <a:spcBef>
              <a:spcPct val="0"/>
            </a:spcBef>
            <a:spcAft>
              <a:spcPct val="35000"/>
            </a:spcAft>
            <a:buNone/>
          </a:pPr>
          <a:r>
            <a:rPr kumimoji="1" lang="ja-JP" altLang="en-US" sz="1400" kern="1200" dirty="0"/>
            <a:t>ロジスティック回帰でモデル作成</a:t>
          </a:r>
        </a:p>
      </dsp:txBody>
      <dsp:txXfrm>
        <a:off x="3793149" y="2797663"/>
        <a:ext cx="1471581" cy="981054"/>
      </dsp:txXfrm>
    </dsp:sp>
    <dsp:sp modelId="{A3E92E5E-94A2-46DD-AE30-22D63C57AE3A}">
      <dsp:nvSpPr>
        <dsp:cNvPr id="0" name=""/>
        <dsp:cNvSpPr/>
      </dsp:nvSpPr>
      <dsp:spPr>
        <a:xfrm>
          <a:off x="5411888" y="2797663"/>
          <a:ext cx="2452635" cy="981054"/>
        </a:xfrm>
        <a:prstGeom prst="chevron">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8890" rIns="0" bIns="8890" numCol="1" spcCol="1270" anchor="ctr" anchorCtr="0">
          <a:noAutofit/>
        </a:bodyPr>
        <a:lstStyle/>
        <a:p>
          <a:pPr marL="0" lvl="0" indent="0" algn="ctr" defTabSz="622300">
            <a:lnSpc>
              <a:spcPct val="90000"/>
            </a:lnSpc>
            <a:spcBef>
              <a:spcPct val="0"/>
            </a:spcBef>
            <a:spcAft>
              <a:spcPct val="35000"/>
            </a:spcAft>
            <a:buNone/>
          </a:pPr>
          <a:r>
            <a:rPr kumimoji="1" lang="ja-JP" altLang="en-US" sz="1400" kern="1200" dirty="0"/>
            <a:t>係数から影響度ランキング作成・優先項目を特定</a:t>
          </a:r>
        </a:p>
      </dsp:txBody>
      <dsp:txXfrm>
        <a:off x="5902415" y="2797663"/>
        <a:ext cx="1471581" cy="981054"/>
      </dsp:txXfrm>
    </dsp:sp>
  </dsp:spTree>
</dsp:drawing>
</file>

<file path=ppt/diagrams/layout1.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0E488B1A-7B1F-47B0-B744-B343802C8FB7}" type="datetimeFigureOut">
              <a:rPr kumimoji="1" lang="ja-JP" altLang="en-US" smtClean="0"/>
              <a:t>2026/3/9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FE8FB53A-8B85-49E5-8EE7-327A0101C1B4}" type="slidenum">
              <a:rPr kumimoji="1" lang="ja-JP" altLang="en-US" smtClean="0"/>
              <a:t>‹#›</a:t>
            </a:fld>
            <a:endParaRPr kumimoji="1" lang="ja-JP" altLang="en-US"/>
          </a:p>
        </p:txBody>
      </p:sp>
    </p:spTree>
    <p:extLst>
      <p:ext uri="{BB962C8B-B14F-4D97-AF65-F5344CB8AC3E}">
        <p14:creationId xmlns:p14="http://schemas.microsoft.com/office/powerpoint/2010/main" val="2896490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0E488B1A-7B1F-47B0-B744-B343802C8FB7}" type="datetimeFigureOut">
              <a:rPr kumimoji="1" lang="ja-JP" altLang="en-US" smtClean="0"/>
              <a:t>2026/3/9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FE8FB53A-8B85-49E5-8EE7-327A0101C1B4}" type="slidenum">
              <a:rPr kumimoji="1" lang="ja-JP" altLang="en-US" smtClean="0"/>
              <a:t>‹#›</a:t>
            </a:fld>
            <a:endParaRPr kumimoji="1" lang="ja-JP" altLang="en-US"/>
          </a:p>
        </p:txBody>
      </p:sp>
    </p:spTree>
    <p:extLst>
      <p:ext uri="{BB962C8B-B14F-4D97-AF65-F5344CB8AC3E}">
        <p14:creationId xmlns:p14="http://schemas.microsoft.com/office/powerpoint/2010/main" val="15175077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0E488B1A-7B1F-47B0-B744-B343802C8FB7}" type="datetimeFigureOut">
              <a:rPr kumimoji="1" lang="ja-JP" altLang="en-US" smtClean="0"/>
              <a:t>2026/3/9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FE8FB53A-8B85-49E5-8EE7-327A0101C1B4}" type="slidenum">
              <a:rPr kumimoji="1" lang="ja-JP" altLang="en-US" smtClean="0"/>
              <a:t>‹#›</a:t>
            </a:fld>
            <a:endParaRPr kumimoji="1" lang="ja-JP" altLang="en-US"/>
          </a:p>
        </p:txBody>
      </p:sp>
    </p:spTree>
    <p:extLst>
      <p:ext uri="{BB962C8B-B14F-4D97-AF65-F5344CB8AC3E}">
        <p14:creationId xmlns:p14="http://schemas.microsoft.com/office/powerpoint/2010/main" val="1747463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0E488B1A-7B1F-47B0-B744-B343802C8FB7}" type="datetimeFigureOut">
              <a:rPr kumimoji="1" lang="ja-JP" altLang="en-US" smtClean="0"/>
              <a:t>2026/3/9</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FE8FB53A-8B85-49E5-8EE7-327A0101C1B4}" type="slidenum">
              <a:rPr kumimoji="1" lang="ja-JP" altLang="en-US" smtClean="0"/>
              <a:t>‹#›</a:t>
            </a:fld>
            <a:endParaRPr kumimoji="1" lang="ja-JP" altLang="en-US"/>
          </a:p>
        </p:txBody>
      </p:sp>
    </p:spTree>
    <p:extLst>
      <p:ext uri="{BB962C8B-B14F-4D97-AF65-F5344CB8AC3E}">
        <p14:creationId xmlns:p14="http://schemas.microsoft.com/office/powerpoint/2010/main" val="891965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0E488B1A-7B1F-47B0-B744-B343802C8FB7}" type="datetimeFigureOut">
              <a:rPr kumimoji="1" lang="ja-JP" altLang="en-US" smtClean="0"/>
              <a:t>2026/3/9</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FE8FB53A-8B85-49E5-8EE7-327A0101C1B4}" type="slidenum">
              <a:rPr kumimoji="1" lang="ja-JP" altLang="en-US" smtClean="0"/>
              <a:t>‹#›</a:t>
            </a:fld>
            <a:endParaRPr kumimoji="1" lang="ja-JP" altLang="en-US"/>
          </a:p>
        </p:txBody>
      </p:sp>
    </p:spTree>
    <p:extLst>
      <p:ext uri="{BB962C8B-B14F-4D97-AF65-F5344CB8AC3E}">
        <p14:creationId xmlns:p14="http://schemas.microsoft.com/office/powerpoint/2010/main" val="14260983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0E488B1A-7B1F-47B0-B744-B343802C8FB7}" type="datetimeFigureOut">
              <a:rPr kumimoji="1" lang="ja-JP" altLang="en-US" smtClean="0"/>
              <a:t>2026/3/9</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FE8FB53A-8B85-49E5-8EE7-327A0101C1B4}" type="slidenum">
              <a:rPr kumimoji="1" lang="ja-JP" altLang="en-US" smtClean="0"/>
              <a:t>‹#›</a:t>
            </a:fld>
            <a:endParaRPr kumimoji="1" lang="ja-JP" altLang="en-US"/>
          </a:p>
        </p:txBody>
      </p:sp>
    </p:spTree>
    <p:extLst>
      <p:ext uri="{BB962C8B-B14F-4D97-AF65-F5344CB8AC3E}">
        <p14:creationId xmlns:p14="http://schemas.microsoft.com/office/powerpoint/2010/main" val="26447353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488B1A-7B1F-47B0-B744-B343802C8FB7}" type="datetimeFigureOut">
              <a:rPr kumimoji="1" lang="ja-JP" altLang="en-US" smtClean="0"/>
              <a:t>2026/3/9</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FE8FB53A-8B85-49E5-8EE7-327A0101C1B4}" type="slidenum">
              <a:rPr kumimoji="1" lang="ja-JP" altLang="en-US" smtClean="0"/>
              <a:t>‹#›</a:t>
            </a:fld>
            <a:endParaRPr kumimoji="1" lang="ja-JP" altLang="en-US"/>
          </a:p>
        </p:txBody>
      </p:sp>
    </p:spTree>
    <p:extLst>
      <p:ext uri="{BB962C8B-B14F-4D97-AF65-F5344CB8AC3E}">
        <p14:creationId xmlns:p14="http://schemas.microsoft.com/office/powerpoint/2010/main" val="23813623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ja-JP" altLang="en-US"/>
              <a:t>マスター タイトルの書式設定</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0E488B1A-7B1F-47B0-B744-B343802C8FB7}" type="datetimeFigureOut">
              <a:rPr kumimoji="1" lang="ja-JP" altLang="en-US" smtClean="0"/>
              <a:t>2026/3/9</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FE8FB53A-8B85-49E5-8EE7-327A0101C1B4}" type="slidenum">
              <a:rPr kumimoji="1" lang="ja-JP" altLang="en-US" smtClean="0"/>
              <a:t>‹#›</a:t>
            </a:fld>
            <a:endParaRPr kumimoji="1" lang="ja-JP" altLang="en-US"/>
          </a:p>
        </p:txBody>
      </p:sp>
    </p:spTree>
    <p:extLst>
      <p:ext uri="{BB962C8B-B14F-4D97-AF65-F5344CB8AC3E}">
        <p14:creationId xmlns:p14="http://schemas.microsoft.com/office/powerpoint/2010/main" val="3919366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0E488B1A-7B1F-47B0-B744-B343802C8FB7}" type="datetimeFigureOut">
              <a:rPr kumimoji="1" lang="ja-JP" altLang="en-US" smtClean="0"/>
              <a:t>2026/3/9</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FE8FB53A-8B85-49E5-8EE7-327A0101C1B4}" type="slidenum">
              <a:rPr kumimoji="1" lang="ja-JP" altLang="en-US" smtClean="0"/>
              <a:t>‹#›</a:t>
            </a:fld>
            <a:endParaRPr kumimoji="1" lang="ja-JP" altLang="en-US"/>
          </a:p>
        </p:txBody>
      </p:sp>
    </p:spTree>
    <p:extLst>
      <p:ext uri="{BB962C8B-B14F-4D97-AF65-F5344CB8AC3E}">
        <p14:creationId xmlns:p14="http://schemas.microsoft.com/office/powerpoint/2010/main" val="21253022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タイトルとキャプション">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0E488B1A-7B1F-47B0-B744-B343802C8FB7}" type="datetimeFigureOut">
              <a:rPr kumimoji="1" lang="ja-JP" altLang="en-US" smtClean="0"/>
              <a:t>2026/3/9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FE8FB53A-8B85-49E5-8EE7-327A0101C1B4}" type="slidenum">
              <a:rPr kumimoji="1" lang="ja-JP" altLang="en-US" smtClean="0"/>
              <a:t>‹#›</a:t>
            </a:fld>
            <a:endParaRPr kumimoji="1" lang="ja-JP" altLang="en-US"/>
          </a:p>
        </p:txBody>
      </p:sp>
    </p:spTree>
    <p:extLst>
      <p:ext uri="{BB962C8B-B14F-4D97-AF65-F5344CB8AC3E}">
        <p14:creationId xmlns:p14="http://schemas.microsoft.com/office/powerpoint/2010/main" val="24245315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引用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ja-JP" altLang="en-US"/>
              <a:t>マスター タイトルの書式設定</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マスター テキストの書式設定</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0E488B1A-7B1F-47B0-B744-B343802C8FB7}" type="datetimeFigureOut">
              <a:rPr kumimoji="1" lang="ja-JP" altLang="en-US" smtClean="0"/>
              <a:t>2026/3/9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FE8FB53A-8B85-49E5-8EE7-327A0101C1B4}" type="slidenum">
              <a:rPr kumimoji="1" lang="ja-JP" altLang="en-US" smtClean="0"/>
              <a:t>‹#›</a:t>
            </a:fld>
            <a:endParaRPr kumimoji="1" lang="ja-JP" alt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6247142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札">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0E488B1A-7B1F-47B0-B744-B343802C8FB7}" type="datetimeFigureOut">
              <a:rPr kumimoji="1" lang="ja-JP" altLang="en-US" smtClean="0"/>
              <a:t>2026/3/9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FE8FB53A-8B85-49E5-8EE7-327A0101C1B4}" type="slidenum">
              <a:rPr kumimoji="1" lang="ja-JP" altLang="en-US" smtClean="0"/>
              <a:t>‹#›</a:t>
            </a:fld>
            <a:endParaRPr kumimoji="1" lang="ja-JP" altLang="en-US"/>
          </a:p>
        </p:txBody>
      </p:sp>
    </p:spTree>
    <p:extLst>
      <p:ext uri="{BB962C8B-B14F-4D97-AF65-F5344CB8AC3E}">
        <p14:creationId xmlns:p14="http://schemas.microsoft.com/office/powerpoint/2010/main" val="13123130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用付きの名札">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ja-JP" altLang="en-US"/>
              <a:t>マスター タイトルの書式設定</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マスター テキストの書式設定</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0E488B1A-7B1F-47B0-B744-B343802C8FB7}" type="datetimeFigureOut">
              <a:rPr kumimoji="1" lang="ja-JP" altLang="en-US" smtClean="0"/>
              <a:t>2026/3/9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FE8FB53A-8B85-49E5-8EE7-327A0101C1B4}" type="slidenum">
              <a:rPr kumimoji="1" lang="ja-JP" altLang="en-US" smtClean="0"/>
              <a:t>‹#›</a:t>
            </a:fld>
            <a:endParaRPr kumimoji="1" lang="ja-JP" alt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7486469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真または偽">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ja-JP" altLang="en-US"/>
              <a:t>マスター タイトルの書式設定</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マスター テキストの書式設定</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0E488B1A-7B1F-47B0-B744-B343802C8FB7}" type="datetimeFigureOut">
              <a:rPr kumimoji="1" lang="ja-JP" altLang="en-US" smtClean="0"/>
              <a:t>2026/3/9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FE8FB53A-8B85-49E5-8EE7-327A0101C1B4}" type="slidenum">
              <a:rPr kumimoji="1" lang="ja-JP" altLang="en-US" smtClean="0"/>
              <a:t>‹#›</a:t>
            </a:fld>
            <a:endParaRPr kumimoji="1" lang="ja-JP" altLang="en-US"/>
          </a:p>
        </p:txBody>
      </p:sp>
    </p:spTree>
    <p:extLst>
      <p:ext uri="{BB962C8B-B14F-4D97-AF65-F5344CB8AC3E}">
        <p14:creationId xmlns:p14="http://schemas.microsoft.com/office/powerpoint/2010/main" val="20158687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0E488B1A-7B1F-47B0-B744-B343802C8FB7}" type="datetimeFigureOut">
              <a:rPr kumimoji="1" lang="ja-JP" altLang="en-US" smtClean="0"/>
              <a:t>2026/3/9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FE8FB53A-8B85-49E5-8EE7-327A0101C1B4}" type="slidenum">
              <a:rPr kumimoji="1" lang="ja-JP" altLang="en-US" smtClean="0"/>
              <a:t>‹#›</a:t>
            </a:fld>
            <a:endParaRPr kumimoji="1" lang="ja-JP" altLang="en-US"/>
          </a:p>
        </p:txBody>
      </p:sp>
    </p:spTree>
    <p:extLst>
      <p:ext uri="{BB962C8B-B14F-4D97-AF65-F5344CB8AC3E}">
        <p14:creationId xmlns:p14="http://schemas.microsoft.com/office/powerpoint/2010/main" val="13108392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0E488B1A-7B1F-47B0-B744-B343802C8FB7}" type="datetimeFigureOut">
              <a:rPr kumimoji="1" lang="ja-JP" altLang="en-US" smtClean="0"/>
              <a:t>2026/3/9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FE8FB53A-8B85-49E5-8EE7-327A0101C1B4}" type="slidenum">
              <a:rPr kumimoji="1" lang="ja-JP" altLang="en-US" smtClean="0"/>
              <a:t>‹#›</a:t>
            </a:fld>
            <a:endParaRPr kumimoji="1" lang="ja-JP" altLang="en-US"/>
          </a:p>
        </p:txBody>
      </p:sp>
    </p:spTree>
    <p:extLst>
      <p:ext uri="{BB962C8B-B14F-4D97-AF65-F5344CB8AC3E}">
        <p14:creationId xmlns:p14="http://schemas.microsoft.com/office/powerpoint/2010/main" val="4013676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E488B1A-7B1F-47B0-B744-B343802C8FB7}" type="datetimeFigureOut">
              <a:rPr kumimoji="1" lang="ja-JP" altLang="en-US" smtClean="0"/>
              <a:t>2026/3/9</a:t>
            </a:fld>
            <a:endParaRPr kumimoji="1" lang="ja-JP" alt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FE8FB53A-8B85-49E5-8EE7-327A0101C1B4}" type="slidenum">
              <a:rPr kumimoji="1" lang="ja-JP" altLang="en-US" smtClean="0"/>
              <a:t>‹#›</a:t>
            </a:fld>
            <a:endParaRPr kumimoji="1" lang="ja-JP" altLang="en-US"/>
          </a:p>
        </p:txBody>
      </p:sp>
    </p:spTree>
    <p:extLst>
      <p:ext uri="{BB962C8B-B14F-4D97-AF65-F5344CB8AC3E}">
        <p14:creationId xmlns:p14="http://schemas.microsoft.com/office/powerpoint/2010/main" val="2772512527"/>
      </p:ext>
    </p:extLst>
  </p:cSld>
  <p:clrMap bg1="lt1" tx1="dk1" bg2="lt2" tx2="dk2" accent1="accent1" accent2="accent2" accent3="accent3" accent4="accent4" accent5="accent5" accent6="accent6" hlink="hlink" folHlink="folHlink"/>
  <p:sldLayoutIdLst>
    <p:sldLayoutId id="2147483872" r:id="rId1"/>
    <p:sldLayoutId id="2147483873" r:id="rId2"/>
    <p:sldLayoutId id="2147483874" r:id="rId3"/>
    <p:sldLayoutId id="2147483875" r:id="rId4"/>
    <p:sldLayoutId id="2147483876" r:id="rId5"/>
    <p:sldLayoutId id="2147483877" r:id="rId6"/>
    <p:sldLayoutId id="2147483878" r:id="rId7"/>
    <p:sldLayoutId id="2147483879" r:id="rId8"/>
    <p:sldLayoutId id="2147483880" r:id="rId9"/>
    <p:sldLayoutId id="2147483881" r:id="rId10"/>
    <p:sldLayoutId id="2147483882" r:id="rId11"/>
    <p:sldLayoutId id="2147483883" r:id="rId12"/>
    <p:sldLayoutId id="2147483884" r:id="rId13"/>
    <p:sldLayoutId id="2147483885" r:id="rId14"/>
    <p:sldLayoutId id="2147483886" r:id="rId15"/>
    <p:sldLayoutId id="2147483887" r:id="rId16"/>
  </p:sldLayoutIdLst>
  <p:txStyles>
    <p:titleStyle>
      <a:lvl1pPr algn="l" defTabSz="457200" rtl="0" eaLnBrk="1" latinLnBrk="0" hangingPunct="1">
        <a:spcBef>
          <a:spcPct val="0"/>
        </a:spcBef>
        <a:buNone/>
        <a:defRPr kumimoji="1" sz="36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kumimoji="1"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kumimoji="1"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kumimoji="1"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653B23D-F91C-37AF-A978-83674E8BEFA9}"/>
              </a:ext>
            </a:extLst>
          </p:cNvPr>
          <p:cNvSpPr>
            <a:spLocks noGrp="1"/>
          </p:cNvSpPr>
          <p:nvPr>
            <p:ph type="ctrTitle"/>
          </p:nvPr>
        </p:nvSpPr>
        <p:spPr/>
        <p:txBody>
          <a:bodyPr/>
          <a:lstStyle/>
          <a:p>
            <a:r>
              <a:rPr kumimoji="1" lang="ja-JP" altLang="en-US" dirty="0"/>
              <a:t>データ分析</a:t>
            </a:r>
            <a:br>
              <a:rPr kumimoji="1" lang="en-US" altLang="ja-JP" dirty="0"/>
            </a:br>
            <a:r>
              <a:rPr kumimoji="1" lang="ja-JP" altLang="en-US" dirty="0"/>
              <a:t>ポートフォリオ</a:t>
            </a:r>
          </a:p>
        </p:txBody>
      </p:sp>
      <p:sp>
        <p:nvSpPr>
          <p:cNvPr id="3" name="字幕 2">
            <a:extLst>
              <a:ext uri="{FF2B5EF4-FFF2-40B4-BE49-F238E27FC236}">
                <a16:creationId xmlns:a16="http://schemas.microsoft.com/office/drawing/2014/main" id="{38FD8C85-CFF7-9A8C-B4F8-58D763DD3D38}"/>
              </a:ext>
            </a:extLst>
          </p:cNvPr>
          <p:cNvSpPr>
            <a:spLocks noGrp="1"/>
          </p:cNvSpPr>
          <p:nvPr>
            <p:ph type="subTitle" idx="1"/>
          </p:nvPr>
        </p:nvSpPr>
        <p:spPr/>
        <p:txBody>
          <a:bodyPr>
            <a:normAutofit/>
          </a:bodyPr>
          <a:lstStyle/>
          <a:p>
            <a:r>
              <a:rPr kumimoji="1" lang="ja-JP" altLang="en-US" dirty="0"/>
              <a:t>審査項目別延滞率の分析・与信判断の意思決定支援</a:t>
            </a:r>
            <a:endParaRPr kumimoji="1" lang="en-US" altLang="ja-JP" dirty="0"/>
          </a:p>
          <a:p>
            <a:r>
              <a:rPr lang="ja-JP" altLang="en-US" dirty="0"/>
              <a:t>（</a:t>
            </a:r>
            <a:r>
              <a:rPr lang="en-US" altLang="ja-JP" dirty="0"/>
              <a:t>Python</a:t>
            </a:r>
            <a:r>
              <a:rPr lang="ja-JP" altLang="en-US" dirty="0"/>
              <a:t>・</a:t>
            </a:r>
            <a:r>
              <a:rPr lang="en-US" altLang="ja-JP" dirty="0"/>
              <a:t>SQL</a:t>
            </a:r>
            <a:r>
              <a:rPr lang="ja-JP" altLang="en-US" dirty="0"/>
              <a:t>）</a:t>
            </a:r>
            <a:endParaRPr lang="en-US" altLang="ja-JP" dirty="0"/>
          </a:p>
        </p:txBody>
      </p:sp>
    </p:spTree>
    <p:extLst>
      <p:ext uri="{BB962C8B-B14F-4D97-AF65-F5344CB8AC3E}">
        <p14:creationId xmlns:p14="http://schemas.microsoft.com/office/powerpoint/2010/main" val="12747352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BB59464-47B2-9D7A-80AF-44442C9FDF15}"/>
              </a:ext>
            </a:extLst>
          </p:cNvPr>
          <p:cNvSpPr>
            <a:spLocks noGrp="1"/>
          </p:cNvSpPr>
          <p:nvPr>
            <p:ph type="title"/>
          </p:nvPr>
        </p:nvSpPr>
        <p:spPr/>
        <p:txBody>
          <a:bodyPr/>
          <a:lstStyle/>
          <a:p>
            <a:r>
              <a:rPr kumimoji="1" lang="ja-JP" altLang="en-US" dirty="0"/>
              <a:t>使用ツール</a:t>
            </a:r>
          </a:p>
        </p:txBody>
      </p:sp>
      <p:sp>
        <p:nvSpPr>
          <p:cNvPr id="3" name="コンテンツ プレースホルダー 2">
            <a:extLst>
              <a:ext uri="{FF2B5EF4-FFF2-40B4-BE49-F238E27FC236}">
                <a16:creationId xmlns:a16="http://schemas.microsoft.com/office/drawing/2014/main" id="{359287F2-BE84-EB4D-D4A7-FD1F0C1D22D9}"/>
              </a:ext>
            </a:extLst>
          </p:cNvPr>
          <p:cNvSpPr>
            <a:spLocks noGrp="1"/>
          </p:cNvSpPr>
          <p:nvPr>
            <p:ph idx="1"/>
          </p:nvPr>
        </p:nvSpPr>
        <p:spPr/>
        <p:txBody>
          <a:bodyPr/>
          <a:lstStyle/>
          <a:p>
            <a:r>
              <a:rPr kumimoji="1" lang="en-US" altLang="ja-JP" sz="2800" dirty="0"/>
              <a:t>Python</a:t>
            </a:r>
          </a:p>
          <a:p>
            <a:pPr marL="0" indent="0">
              <a:buNone/>
            </a:pPr>
            <a:r>
              <a:rPr lang="ja-JP" altLang="en-US" sz="2800" dirty="0"/>
              <a:t>　</a:t>
            </a:r>
            <a:r>
              <a:rPr lang="ja-JP" altLang="en-US" dirty="0"/>
              <a:t>→</a:t>
            </a:r>
            <a:r>
              <a:rPr lang="en-US" altLang="ja-JP" dirty="0"/>
              <a:t>pandas</a:t>
            </a:r>
            <a:r>
              <a:rPr lang="ja-JP" altLang="en-US" dirty="0"/>
              <a:t>・</a:t>
            </a:r>
            <a:r>
              <a:rPr lang="en-US" altLang="ja-JP" dirty="0"/>
              <a:t>matplotlib</a:t>
            </a:r>
            <a:r>
              <a:rPr lang="ja-JP" altLang="en-US" dirty="0"/>
              <a:t>・</a:t>
            </a:r>
            <a:r>
              <a:rPr lang="en-US" altLang="ja-JP" dirty="0" err="1"/>
              <a:t>numpy</a:t>
            </a:r>
            <a:r>
              <a:rPr lang="ja-JP" altLang="en-US" dirty="0"/>
              <a:t>・</a:t>
            </a:r>
            <a:r>
              <a:rPr lang="en-US" altLang="ja-JP" dirty="0" err="1"/>
              <a:t>sklearn</a:t>
            </a:r>
            <a:endParaRPr lang="en-US" altLang="ja-JP" dirty="0"/>
          </a:p>
          <a:p>
            <a:pPr marL="0" indent="0">
              <a:buNone/>
            </a:pPr>
            <a:r>
              <a:rPr kumimoji="1" lang="ja-JP" altLang="en-US" dirty="0"/>
              <a:t>　　グラフ作成・ロジスティック回帰に使用</a:t>
            </a:r>
            <a:endParaRPr kumimoji="1" lang="en-US" altLang="ja-JP" dirty="0"/>
          </a:p>
          <a:p>
            <a:pPr marL="0" indent="0">
              <a:buNone/>
            </a:pPr>
            <a:endParaRPr kumimoji="1" lang="en-US" altLang="ja-JP" dirty="0"/>
          </a:p>
          <a:p>
            <a:r>
              <a:rPr lang="en-US" altLang="ja-JP" sz="2800" dirty="0"/>
              <a:t>SQL</a:t>
            </a:r>
          </a:p>
          <a:p>
            <a:pPr marL="0" indent="0">
              <a:buNone/>
            </a:pPr>
            <a:r>
              <a:rPr lang="ja-JP" altLang="en-US" sz="2800" dirty="0"/>
              <a:t>　</a:t>
            </a:r>
            <a:r>
              <a:rPr lang="ja-JP" altLang="en-US" dirty="0"/>
              <a:t>→</a:t>
            </a:r>
            <a:r>
              <a:rPr lang="en-US" altLang="ja-JP" dirty="0"/>
              <a:t>sqlite3</a:t>
            </a:r>
          </a:p>
          <a:p>
            <a:pPr marL="0" indent="0">
              <a:buNone/>
            </a:pPr>
            <a:r>
              <a:rPr lang="ja-JP" altLang="en-US" dirty="0"/>
              <a:t>　　　項目別影響率計算に使用</a:t>
            </a:r>
            <a:endParaRPr lang="en-US" altLang="ja-JP" dirty="0"/>
          </a:p>
          <a:p>
            <a:pPr marL="0" indent="0">
              <a:buNone/>
            </a:pPr>
            <a:endParaRPr lang="en-US" altLang="ja-JP" sz="2800" dirty="0"/>
          </a:p>
          <a:p>
            <a:pPr marL="0" indent="0">
              <a:buNone/>
            </a:pPr>
            <a:endParaRPr lang="en-US" altLang="ja-JP" dirty="0"/>
          </a:p>
          <a:p>
            <a:pPr marL="0" indent="0">
              <a:buNone/>
            </a:pPr>
            <a:endParaRPr kumimoji="1" lang="ja-JP" altLang="en-US" dirty="0"/>
          </a:p>
        </p:txBody>
      </p:sp>
    </p:spTree>
    <p:extLst>
      <p:ext uri="{BB962C8B-B14F-4D97-AF65-F5344CB8AC3E}">
        <p14:creationId xmlns:p14="http://schemas.microsoft.com/office/powerpoint/2010/main" val="12394535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D5CEAB-8525-DF97-B6BE-FE8A0033904A}"/>
              </a:ext>
            </a:extLst>
          </p:cNvPr>
          <p:cNvSpPr>
            <a:spLocks noGrp="1"/>
          </p:cNvSpPr>
          <p:nvPr>
            <p:ph type="title"/>
          </p:nvPr>
        </p:nvSpPr>
        <p:spPr/>
        <p:txBody>
          <a:bodyPr/>
          <a:lstStyle/>
          <a:p>
            <a:r>
              <a:rPr kumimoji="1" lang="ja-JP" altLang="en-US" dirty="0"/>
              <a:t>目的・背景</a:t>
            </a:r>
          </a:p>
        </p:txBody>
      </p:sp>
      <p:sp>
        <p:nvSpPr>
          <p:cNvPr id="3" name="コンテンツ プレースホルダー 2">
            <a:extLst>
              <a:ext uri="{FF2B5EF4-FFF2-40B4-BE49-F238E27FC236}">
                <a16:creationId xmlns:a16="http://schemas.microsoft.com/office/drawing/2014/main" id="{CEEBCF5E-6A6A-45F1-889E-C2E4B4233B2F}"/>
              </a:ext>
            </a:extLst>
          </p:cNvPr>
          <p:cNvSpPr>
            <a:spLocks noGrp="1"/>
          </p:cNvSpPr>
          <p:nvPr>
            <p:ph idx="1"/>
          </p:nvPr>
        </p:nvSpPr>
        <p:spPr/>
        <p:txBody>
          <a:bodyPr/>
          <a:lstStyle/>
          <a:p>
            <a:r>
              <a:rPr kumimoji="1" lang="ja-JP" altLang="en-US" sz="2000" dirty="0"/>
              <a:t>目的</a:t>
            </a:r>
            <a:endParaRPr kumimoji="1" lang="en-US" altLang="ja-JP" sz="2000" dirty="0"/>
          </a:p>
          <a:p>
            <a:pPr marL="0" indent="0">
              <a:buNone/>
            </a:pPr>
            <a:r>
              <a:rPr lang="ja-JP" altLang="en-US" dirty="0"/>
              <a:t>　審査項目別の延滞率影響度を分析し、与信判断時の意思決定に役立てる</a:t>
            </a:r>
            <a:endParaRPr lang="en-US" altLang="ja-JP" dirty="0"/>
          </a:p>
          <a:p>
            <a:endParaRPr kumimoji="1" lang="en-US" altLang="ja-JP" dirty="0"/>
          </a:p>
          <a:p>
            <a:endParaRPr kumimoji="1" lang="en-US" altLang="ja-JP" dirty="0"/>
          </a:p>
          <a:p>
            <a:r>
              <a:rPr kumimoji="1" lang="ja-JP" altLang="en-US" sz="2000" dirty="0"/>
              <a:t>背景</a:t>
            </a:r>
            <a:endParaRPr kumimoji="1" lang="en-US" altLang="ja-JP" sz="2000" dirty="0"/>
          </a:p>
          <a:p>
            <a:pPr marL="0" indent="0">
              <a:buNone/>
            </a:pPr>
            <a:r>
              <a:rPr lang="ja-JP" altLang="en-US" dirty="0"/>
              <a:t>　　現職での与信判断時に、どの項目を優先して確認するべきか把握し、</a:t>
            </a:r>
            <a:endParaRPr lang="en-US" altLang="ja-JP" dirty="0"/>
          </a:p>
          <a:p>
            <a:pPr marL="0" indent="0">
              <a:buNone/>
            </a:pPr>
            <a:r>
              <a:rPr lang="ja-JP" altLang="en-US" dirty="0"/>
              <a:t>　　審査時間短縮に役立てたいと考えたため</a:t>
            </a:r>
            <a:endParaRPr kumimoji="1" lang="ja-JP" altLang="en-US" dirty="0"/>
          </a:p>
        </p:txBody>
      </p:sp>
    </p:spTree>
    <p:extLst>
      <p:ext uri="{BB962C8B-B14F-4D97-AF65-F5344CB8AC3E}">
        <p14:creationId xmlns:p14="http://schemas.microsoft.com/office/powerpoint/2010/main" val="35960224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56D749F-8BEE-062E-33AA-CA54CE6199A5}"/>
              </a:ext>
            </a:extLst>
          </p:cNvPr>
          <p:cNvSpPr>
            <a:spLocks noGrp="1"/>
          </p:cNvSpPr>
          <p:nvPr>
            <p:ph type="title"/>
          </p:nvPr>
        </p:nvSpPr>
        <p:spPr>
          <a:xfrm>
            <a:off x="677334" y="609600"/>
            <a:ext cx="8596668" cy="740735"/>
          </a:xfrm>
        </p:spPr>
        <p:txBody>
          <a:bodyPr/>
          <a:lstStyle/>
          <a:p>
            <a:r>
              <a:rPr kumimoji="1" lang="ja-JP" altLang="en-US" dirty="0"/>
              <a:t>データ概要</a:t>
            </a:r>
          </a:p>
        </p:txBody>
      </p:sp>
      <p:sp>
        <p:nvSpPr>
          <p:cNvPr id="3" name="コンテンツ プレースホルダー 2">
            <a:extLst>
              <a:ext uri="{FF2B5EF4-FFF2-40B4-BE49-F238E27FC236}">
                <a16:creationId xmlns:a16="http://schemas.microsoft.com/office/drawing/2014/main" id="{FC29E4CF-C0EF-460B-2BF4-1D540BBFC188}"/>
              </a:ext>
            </a:extLst>
          </p:cNvPr>
          <p:cNvSpPr>
            <a:spLocks noGrp="1"/>
          </p:cNvSpPr>
          <p:nvPr>
            <p:ph idx="1"/>
          </p:nvPr>
        </p:nvSpPr>
        <p:spPr>
          <a:xfrm>
            <a:off x="773026" y="1749464"/>
            <a:ext cx="8596668" cy="3880773"/>
          </a:xfrm>
        </p:spPr>
        <p:txBody>
          <a:bodyPr/>
          <a:lstStyle/>
          <a:p>
            <a:r>
              <a:rPr kumimoji="1" lang="ja-JP" altLang="en-US" sz="2000" dirty="0"/>
              <a:t>仮想データ</a:t>
            </a:r>
            <a:r>
              <a:rPr lang="ja-JP" altLang="en-US" sz="2000" dirty="0"/>
              <a:t>作成</a:t>
            </a:r>
            <a:endParaRPr kumimoji="1" lang="en-US" altLang="ja-JP" sz="2000" dirty="0"/>
          </a:p>
          <a:p>
            <a:pPr marL="0" indent="0">
              <a:buNone/>
            </a:pPr>
            <a:r>
              <a:rPr lang="ja-JP" altLang="en-US" dirty="0"/>
              <a:t>　・件数　</a:t>
            </a:r>
            <a:r>
              <a:rPr lang="en-US" altLang="ja-JP" dirty="0"/>
              <a:t>5000</a:t>
            </a:r>
            <a:r>
              <a:rPr lang="ja-JP" altLang="en-US" dirty="0"/>
              <a:t>件</a:t>
            </a:r>
            <a:endParaRPr lang="en-US" altLang="ja-JP" dirty="0"/>
          </a:p>
          <a:p>
            <a:pPr marL="0" indent="0">
              <a:buNone/>
            </a:pPr>
            <a:r>
              <a:rPr lang="ja-JP" altLang="en-US" dirty="0"/>
              <a:t>　・項目別作成時のルール</a:t>
            </a:r>
            <a:endParaRPr lang="en-US" altLang="ja-JP" dirty="0"/>
          </a:p>
          <a:p>
            <a:pPr marL="0" indent="0">
              <a:buNone/>
            </a:pPr>
            <a:r>
              <a:rPr kumimoji="1" lang="ja-JP" altLang="en-US" dirty="0"/>
              <a:t>　　</a:t>
            </a:r>
            <a:endParaRPr kumimoji="1" lang="en-US" altLang="ja-JP" dirty="0"/>
          </a:p>
        </p:txBody>
      </p:sp>
      <p:graphicFrame>
        <p:nvGraphicFramePr>
          <p:cNvPr id="4" name="表 3">
            <a:extLst>
              <a:ext uri="{FF2B5EF4-FFF2-40B4-BE49-F238E27FC236}">
                <a16:creationId xmlns:a16="http://schemas.microsoft.com/office/drawing/2014/main" id="{2665C6BC-0838-8D07-E6C9-73D29415EA69}"/>
              </a:ext>
            </a:extLst>
          </p:cNvPr>
          <p:cNvGraphicFramePr>
            <a:graphicFrameLocks noGrp="1"/>
          </p:cNvGraphicFramePr>
          <p:nvPr>
            <p:extLst>
              <p:ext uri="{D42A27DB-BD31-4B8C-83A1-F6EECF244321}">
                <p14:modId xmlns:p14="http://schemas.microsoft.com/office/powerpoint/2010/main" val="3174911426"/>
              </p:ext>
            </p:extLst>
          </p:nvPr>
        </p:nvGraphicFramePr>
        <p:xfrm>
          <a:off x="1263156" y="3030280"/>
          <a:ext cx="7616407" cy="3108960"/>
        </p:xfrm>
        <a:graphic>
          <a:graphicData uri="http://schemas.openxmlformats.org/drawingml/2006/table">
            <a:tbl>
              <a:tblPr firstRow="1" bandRow="1">
                <a:tableStyleId>{69012ECD-51FC-41F1-AA8D-1B2483CD663E}</a:tableStyleId>
              </a:tblPr>
              <a:tblGrid>
                <a:gridCol w="1166668">
                  <a:extLst>
                    <a:ext uri="{9D8B030D-6E8A-4147-A177-3AD203B41FA5}">
                      <a16:colId xmlns:a16="http://schemas.microsoft.com/office/drawing/2014/main" val="3309155956"/>
                    </a:ext>
                  </a:extLst>
                </a:gridCol>
                <a:gridCol w="1915591">
                  <a:extLst>
                    <a:ext uri="{9D8B030D-6E8A-4147-A177-3AD203B41FA5}">
                      <a16:colId xmlns:a16="http://schemas.microsoft.com/office/drawing/2014/main" val="1142643028"/>
                    </a:ext>
                  </a:extLst>
                </a:gridCol>
                <a:gridCol w="4534148">
                  <a:extLst>
                    <a:ext uri="{9D8B030D-6E8A-4147-A177-3AD203B41FA5}">
                      <a16:colId xmlns:a16="http://schemas.microsoft.com/office/drawing/2014/main" val="2558214421"/>
                    </a:ext>
                  </a:extLst>
                </a:gridCol>
              </a:tblGrid>
              <a:tr h="334418">
                <a:tc>
                  <a:txBody>
                    <a:bodyPr/>
                    <a:lstStyle/>
                    <a:p>
                      <a:r>
                        <a:rPr kumimoji="1" lang="ja-JP" altLang="en-US" dirty="0"/>
                        <a:t>項目</a:t>
                      </a:r>
                    </a:p>
                  </a:txBody>
                  <a:tcPr/>
                </a:tc>
                <a:tc>
                  <a:txBody>
                    <a:bodyPr/>
                    <a:lstStyle/>
                    <a:p>
                      <a:r>
                        <a:rPr kumimoji="1" lang="ja-JP" altLang="en-US" dirty="0"/>
                        <a:t>範囲</a:t>
                      </a:r>
                    </a:p>
                  </a:txBody>
                  <a:tcPr/>
                </a:tc>
                <a:tc>
                  <a:txBody>
                    <a:bodyPr/>
                    <a:lstStyle/>
                    <a:p>
                      <a:r>
                        <a:rPr kumimoji="1" lang="ja-JP" altLang="en-US" dirty="0"/>
                        <a:t>ルール</a:t>
                      </a:r>
                    </a:p>
                  </a:txBody>
                  <a:tcPr/>
                </a:tc>
                <a:extLst>
                  <a:ext uri="{0D108BD9-81ED-4DB2-BD59-A6C34878D82A}">
                    <a16:rowId xmlns:a16="http://schemas.microsoft.com/office/drawing/2014/main" val="2463535564"/>
                  </a:ext>
                </a:extLst>
              </a:tr>
              <a:tr h="334418">
                <a:tc>
                  <a:txBody>
                    <a:bodyPr/>
                    <a:lstStyle/>
                    <a:p>
                      <a:r>
                        <a:rPr kumimoji="1" lang="ja-JP" altLang="en-US" dirty="0"/>
                        <a:t>年齢</a:t>
                      </a:r>
                    </a:p>
                  </a:txBody>
                  <a:tcP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en-US" altLang="ja-JP" sz="1800" b="0" kern="1200" dirty="0">
                          <a:solidFill>
                            <a:schemeClr val="tx1"/>
                          </a:solidFill>
                          <a:effectLst/>
                          <a:latin typeface="+mn-lt"/>
                          <a:ea typeface="+mn-ea"/>
                          <a:cs typeface="+mn-cs"/>
                        </a:rPr>
                        <a:t>20</a:t>
                      </a:r>
                      <a:r>
                        <a:rPr kumimoji="1" lang="ja-JP" altLang="en-US" sz="1800" b="0" kern="1200" dirty="0">
                          <a:solidFill>
                            <a:schemeClr val="tx1"/>
                          </a:solidFill>
                          <a:effectLst/>
                          <a:latin typeface="+mn-lt"/>
                          <a:ea typeface="+mn-ea"/>
                          <a:cs typeface="+mn-cs"/>
                        </a:rPr>
                        <a:t>～</a:t>
                      </a:r>
                      <a:r>
                        <a:rPr kumimoji="1" lang="en-US" altLang="ja-JP" sz="1800" b="0" kern="1200" dirty="0">
                          <a:solidFill>
                            <a:schemeClr val="tx1"/>
                          </a:solidFill>
                          <a:effectLst/>
                          <a:latin typeface="+mn-lt"/>
                          <a:ea typeface="+mn-ea"/>
                          <a:cs typeface="+mn-cs"/>
                        </a:rPr>
                        <a:t>60</a:t>
                      </a:r>
                      <a:r>
                        <a:rPr kumimoji="1" lang="ja-JP" altLang="en-US" sz="1800" b="0" kern="1200" dirty="0">
                          <a:solidFill>
                            <a:schemeClr val="tx1"/>
                          </a:solidFill>
                          <a:effectLst/>
                          <a:latin typeface="+mn-lt"/>
                          <a:ea typeface="+mn-ea"/>
                          <a:cs typeface="+mn-cs"/>
                        </a:rPr>
                        <a:t>歳</a:t>
                      </a:r>
                    </a:p>
                  </a:txBody>
                  <a:tcP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dirty="0"/>
                        <a:t>完全ランダム</a:t>
                      </a:r>
                      <a:endParaRPr kumimoji="1" lang="ja-JP" altLang="en-US" sz="1800" b="0" kern="1200" dirty="0">
                        <a:solidFill>
                          <a:schemeClr val="tx1"/>
                        </a:solidFill>
                        <a:effectLst/>
                        <a:latin typeface="+mn-lt"/>
                        <a:ea typeface="+mn-ea"/>
                        <a:cs typeface="+mn-cs"/>
                      </a:endParaRPr>
                    </a:p>
                  </a:txBody>
                  <a:tcPr>
                    <a:solidFill>
                      <a:schemeClr val="bg1"/>
                    </a:solidFill>
                  </a:tcPr>
                </a:tc>
                <a:extLst>
                  <a:ext uri="{0D108BD9-81ED-4DB2-BD59-A6C34878D82A}">
                    <a16:rowId xmlns:a16="http://schemas.microsoft.com/office/drawing/2014/main" val="3496519929"/>
                  </a:ext>
                </a:extLst>
              </a:tr>
              <a:tr h="334418">
                <a:tc>
                  <a:txBody>
                    <a:bodyPr/>
                    <a:lstStyle/>
                    <a:p>
                      <a:r>
                        <a:rPr kumimoji="1" lang="ja-JP" altLang="en-US" sz="1800" b="0" kern="1200" dirty="0">
                          <a:solidFill>
                            <a:schemeClr val="tx1"/>
                          </a:solidFill>
                          <a:effectLst/>
                          <a:latin typeface="+mn-lt"/>
                          <a:ea typeface="+mn-ea"/>
                          <a:cs typeface="+mn-cs"/>
                        </a:rPr>
                        <a:t>年収</a:t>
                      </a:r>
                      <a:endParaRPr kumimoji="1" lang="ja-JP" altLang="en-US" dirty="0"/>
                    </a:p>
                  </a:txBody>
                  <a:tcP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en-US" altLang="ja-JP" sz="1800" b="0" kern="1200" dirty="0">
                          <a:solidFill>
                            <a:schemeClr val="tx1"/>
                          </a:solidFill>
                          <a:effectLst/>
                          <a:latin typeface="+mn-lt"/>
                          <a:ea typeface="+mn-ea"/>
                          <a:cs typeface="+mn-cs"/>
                        </a:rPr>
                        <a:t>200</a:t>
                      </a:r>
                      <a:r>
                        <a:rPr kumimoji="1" lang="ja-JP" altLang="en-US" sz="1800" b="0" kern="1200" dirty="0">
                          <a:solidFill>
                            <a:schemeClr val="tx1"/>
                          </a:solidFill>
                          <a:effectLst/>
                          <a:latin typeface="+mn-lt"/>
                          <a:ea typeface="+mn-ea"/>
                          <a:cs typeface="+mn-cs"/>
                        </a:rPr>
                        <a:t>～</a:t>
                      </a:r>
                      <a:r>
                        <a:rPr kumimoji="1" lang="en-US" altLang="ja-JP" sz="1800" b="0" kern="1200" dirty="0">
                          <a:solidFill>
                            <a:schemeClr val="tx1"/>
                          </a:solidFill>
                          <a:effectLst/>
                          <a:latin typeface="+mn-lt"/>
                          <a:ea typeface="+mn-ea"/>
                          <a:cs typeface="+mn-cs"/>
                        </a:rPr>
                        <a:t>1000</a:t>
                      </a:r>
                      <a:r>
                        <a:rPr kumimoji="1" lang="ja-JP" altLang="en-US" sz="1800" b="0" kern="1200" dirty="0">
                          <a:solidFill>
                            <a:schemeClr val="tx1"/>
                          </a:solidFill>
                          <a:effectLst/>
                          <a:latin typeface="+mn-lt"/>
                          <a:ea typeface="+mn-ea"/>
                          <a:cs typeface="+mn-cs"/>
                        </a:rPr>
                        <a:t>万円</a:t>
                      </a:r>
                    </a:p>
                  </a:txBody>
                  <a:tcP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800" b="0" kern="1200" dirty="0">
                          <a:solidFill>
                            <a:schemeClr val="tx1"/>
                          </a:solidFill>
                          <a:effectLst/>
                          <a:latin typeface="+mn-lt"/>
                          <a:ea typeface="+mn-ea"/>
                          <a:cs typeface="+mn-cs"/>
                        </a:rPr>
                        <a:t>年齢↑＝年収↑　微量のランダム</a:t>
                      </a:r>
                    </a:p>
                  </a:txBody>
                  <a:tcPr>
                    <a:solidFill>
                      <a:schemeClr val="bg1"/>
                    </a:solidFill>
                  </a:tcPr>
                </a:tc>
                <a:extLst>
                  <a:ext uri="{0D108BD9-81ED-4DB2-BD59-A6C34878D82A}">
                    <a16:rowId xmlns:a16="http://schemas.microsoft.com/office/drawing/2014/main" val="1352577611"/>
                  </a:ext>
                </a:extLst>
              </a:tr>
              <a:tr h="334418">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800" b="0" kern="1200" dirty="0">
                          <a:solidFill>
                            <a:schemeClr val="tx1"/>
                          </a:solidFill>
                          <a:effectLst/>
                          <a:latin typeface="+mn-lt"/>
                          <a:ea typeface="+mn-ea"/>
                          <a:cs typeface="+mn-cs"/>
                        </a:rPr>
                        <a:t>勤続年数</a:t>
                      </a:r>
                    </a:p>
                  </a:txBody>
                  <a:tcPr>
                    <a:solidFill>
                      <a:schemeClr val="bg1"/>
                    </a:solidFill>
                  </a:tcPr>
                </a:tc>
                <a:tc>
                  <a:txBody>
                    <a:bodyPr/>
                    <a:lstStyle/>
                    <a:p>
                      <a:r>
                        <a:rPr kumimoji="1" lang="en-US" altLang="ja-JP" sz="1800" b="0" kern="1200" dirty="0">
                          <a:solidFill>
                            <a:schemeClr val="tx1"/>
                          </a:solidFill>
                          <a:effectLst/>
                          <a:latin typeface="+mn-lt"/>
                          <a:ea typeface="+mn-ea"/>
                          <a:cs typeface="+mn-cs"/>
                        </a:rPr>
                        <a:t>0</a:t>
                      </a:r>
                      <a:r>
                        <a:rPr kumimoji="1" lang="ja-JP" altLang="en-US" sz="1800" b="0" kern="1200" dirty="0">
                          <a:solidFill>
                            <a:schemeClr val="tx1"/>
                          </a:solidFill>
                          <a:effectLst/>
                          <a:latin typeface="+mn-lt"/>
                          <a:ea typeface="+mn-ea"/>
                          <a:cs typeface="+mn-cs"/>
                        </a:rPr>
                        <a:t>～</a:t>
                      </a:r>
                      <a:r>
                        <a:rPr kumimoji="1" lang="en-US" altLang="ja-JP" sz="1800" b="0" kern="1200" dirty="0">
                          <a:solidFill>
                            <a:schemeClr val="tx1"/>
                          </a:solidFill>
                          <a:effectLst/>
                          <a:latin typeface="+mn-lt"/>
                          <a:ea typeface="+mn-ea"/>
                          <a:cs typeface="+mn-cs"/>
                        </a:rPr>
                        <a:t>30</a:t>
                      </a:r>
                      <a:r>
                        <a:rPr kumimoji="1" lang="ja-JP" altLang="en-US" sz="1800" b="0" kern="1200" dirty="0">
                          <a:solidFill>
                            <a:schemeClr val="tx1"/>
                          </a:solidFill>
                          <a:effectLst/>
                          <a:latin typeface="+mn-lt"/>
                          <a:ea typeface="+mn-ea"/>
                          <a:cs typeface="+mn-cs"/>
                        </a:rPr>
                        <a:t>年</a:t>
                      </a:r>
                      <a:endParaRPr kumimoji="1" lang="ja-JP" altLang="en-US" dirty="0"/>
                    </a:p>
                  </a:txBody>
                  <a:tcPr>
                    <a:solidFill>
                      <a:schemeClr val="bg1"/>
                    </a:solidFill>
                  </a:tcPr>
                </a:tc>
                <a:tc>
                  <a:txBody>
                    <a:bodyPr/>
                    <a:lstStyle/>
                    <a:p>
                      <a:r>
                        <a:rPr kumimoji="1" lang="ja-JP" altLang="en-US" sz="1800" b="0" kern="1200" dirty="0">
                          <a:solidFill>
                            <a:schemeClr val="tx1"/>
                          </a:solidFill>
                          <a:effectLst/>
                          <a:latin typeface="+mn-lt"/>
                          <a:ea typeface="+mn-ea"/>
                          <a:cs typeface="+mn-cs"/>
                        </a:rPr>
                        <a:t>年齢↑＝勤続年数↑　微量のランダム</a:t>
                      </a:r>
                      <a:endParaRPr kumimoji="1" lang="ja-JP" altLang="en-US" dirty="0"/>
                    </a:p>
                  </a:txBody>
                  <a:tcPr>
                    <a:solidFill>
                      <a:schemeClr val="bg1"/>
                    </a:solidFill>
                  </a:tcPr>
                </a:tc>
                <a:extLst>
                  <a:ext uri="{0D108BD9-81ED-4DB2-BD59-A6C34878D82A}">
                    <a16:rowId xmlns:a16="http://schemas.microsoft.com/office/drawing/2014/main" val="2568474322"/>
                  </a:ext>
                </a:extLst>
              </a:tr>
              <a:tr h="334418">
                <a:tc>
                  <a:txBody>
                    <a:bodyPr/>
                    <a:lstStyle/>
                    <a:p>
                      <a:r>
                        <a:rPr kumimoji="1" lang="ja-JP" altLang="en-US" dirty="0"/>
                        <a:t>延滞回数</a:t>
                      </a:r>
                    </a:p>
                  </a:txBody>
                  <a:tcP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en-US" altLang="ja-JP" sz="1800" b="0" kern="1200" dirty="0">
                          <a:solidFill>
                            <a:schemeClr val="tx1"/>
                          </a:solidFill>
                          <a:effectLst/>
                          <a:latin typeface="+mn-lt"/>
                          <a:ea typeface="+mn-ea"/>
                          <a:cs typeface="+mn-cs"/>
                        </a:rPr>
                        <a:t>0</a:t>
                      </a:r>
                      <a:r>
                        <a:rPr kumimoji="1" lang="ja-JP" altLang="en-US" sz="1800" b="0" kern="1200" dirty="0">
                          <a:solidFill>
                            <a:schemeClr val="tx1"/>
                          </a:solidFill>
                          <a:effectLst/>
                          <a:latin typeface="+mn-lt"/>
                          <a:ea typeface="+mn-ea"/>
                          <a:cs typeface="+mn-cs"/>
                        </a:rPr>
                        <a:t>～</a:t>
                      </a:r>
                      <a:r>
                        <a:rPr kumimoji="1" lang="en-US" altLang="ja-JP" sz="1800" b="0" kern="1200" dirty="0">
                          <a:solidFill>
                            <a:schemeClr val="tx1"/>
                          </a:solidFill>
                          <a:effectLst/>
                          <a:latin typeface="+mn-lt"/>
                          <a:ea typeface="+mn-ea"/>
                          <a:cs typeface="+mn-cs"/>
                        </a:rPr>
                        <a:t>6</a:t>
                      </a:r>
                      <a:r>
                        <a:rPr kumimoji="1" lang="ja-JP" altLang="en-US" sz="1800" b="0" kern="1200" dirty="0">
                          <a:solidFill>
                            <a:schemeClr val="tx1"/>
                          </a:solidFill>
                          <a:effectLst/>
                          <a:latin typeface="+mn-lt"/>
                          <a:ea typeface="+mn-ea"/>
                          <a:cs typeface="+mn-cs"/>
                        </a:rPr>
                        <a:t>回</a:t>
                      </a:r>
                    </a:p>
                  </a:txBody>
                  <a:tcP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800" b="0" kern="1200" dirty="0">
                          <a:solidFill>
                            <a:schemeClr val="tx1"/>
                          </a:solidFill>
                          <a:effectLst/>
                          <a:latin typeface="+mn-lt"/>
                          <a:ea typeface="+mn-ea"/>
                          <a:cs typeface="+mn-cs"/>
                        </a:rPr>
                        <a:t>年齢・年収・勤続年数↓＝延滞回数↑</a:t>
                      </a:r>
                    </a:p>
                  </a:txBody>
                  <a:tcPr>
                    <a:solidFill>
                      <a:schemeClr val="bg1"/>
                    </a:solidFill>
                  </a:tcPr>
                </a:tc>
                <a:extLst>
                  <a:ext uri="{0D108BD9-81ED-4DB2-BD59-A6C34878D82A}">
                    <a16:rowId xmlns:a16="http://schemas.microsoft.com/office/drawing/2014/main" val="1383934048"/>
                  </a:ext>
                </a:extLst>
              </a:tr>
              <a:tr h="585231">
                <a:tc>
                  <a:txBody>
                    <a:bodyPr/>
                    <a:lstStyle/>
                    <a:p>
                      <a:r>
                        <a:rPr kumimoji="1" lang="ja-JP" altLang="en-US" dirty="0"/>
                        <a:t>延滞金額</a:t>
                      </a:r>
                    </a:p>
                  </a:txBody>
                  <a:tcP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dirty="0"/>
                        <a:t>他社</a:t>
                      </a:r>
                      <a:r>
                        <a:rPr kumimoji="1" lang="en-US" altLang="ja-JP" sz="1800" b="0" kern="1200" dirty="0">
                          <a:solidFill>
                            <a:schemeClr val="tx1"/>
                          </a:solidFill>
                          <a:effectLst/>
                          <a:latin typeface="+mn-lt"/>
                          <a:ea typeface="+mn-ea"/>
                          <a:cs typeface="+mn-cs"/>
                        </a:rPr>
                        <a:t>0</a:t>
                      </a:r>
                      <a:r>
                        <a:rPr kumimoji="1" lang="ja-JP" altLang="en-US" sz="1800" b="0" kern="1200" dirty="0">
                          <a:solidFill>
                            <a:schemeClr val="tx1"/>
                          </a:solidFill>
                          <a:effectLst/>
                          <a:latin typeface="+mn-lt"/>
                          <a:ea typeface="+mn-ea"/>
                          <a:cs typeface="+mn-cs"/>
                        </a:rPr>
                        <a:t>～</a:t>
                      </a:r>
                      <a:r>
                        <a:rPr kumimoji="1" lang="en-US" altLang="ja-JP" sz="1800" b="0" kern="1200" dirty="0">
                          <a:solidFill>
                            <a:schemeClr val="tx1"/>
                          </a:solidFill>
                          <a:effectLst/>
                          <a:latin typeface="+mn-lt"/>
                          <a:ea typeface="+mn-ea"/>
                          <a:cs typeface="+mn-cs"/>
                        </a:rPr>
                        <a:t>200</a:t>
                      </a:r>
                      <a:r>
                        <a:rPr kumimoji="1" lang="ja-JP" altLang="en-US" sz="1800" b="0" kern="1200" dirty="0">
                          <a:solidFill>
                            <a:schemeClr val="tx1"/>
                          </a:solidFill>
                          <a:effectLst/>
                          <a:latin typeface="+mn-lt"/>
                          <a:ea typeface="+mn-ea"/>
                          <a:cs typeface="+mn-cs"/>
                        </a:rPr>
                        <a:t>万円</a:t>
                      </a:r>
                    </a:p>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dirty="0"/>
                        <a:t>自社</a:t>
                      </a:r>
                      <a:r>
                        <a:rPr kumimoji="1" lang="en-US" altLang="ja-JP" sz="1800" b="0" kern="1200" dirty="0">
                          <a:solidFill>
                            <a:schemeClr val="tx1"/>
                          </a:solidFill>
                          <a:effectLst/>
                          <a:latin typeface="+mn-lt"/>
                          <a:ea typeface="+mn-ea"/>
                          <a:cs typeface="+mn-cs"/>
                        </a:rPr>
                        <a:t>0</a:t>
                      </a:r>
                      <a:r>
                        <a:rPr kumimoji="1" lang="ja-JP" altLang="en-US" sz="1800" b="0" kern="1200" dirty="0">
                          <a:solidFill>
                            <a:schemeClr val="tx1"/>
                          </a:solidFill>
                          <a:effectLst/>
                          <a:latin typeface="+mn-lt"/>
                          <a:ea typeface="+mn-ea"/>
                          <a:cs typeface="+mn-cs"/>
                        </a:rPr>
                        <a:t>～</a:t>
                      </a:r>
                      <a:r>
                        <a:rPr kumimoji="1" lang="en-US" altLang="ja-JP" sz="1800" b="0" kern="1200" dirty="0">
                          <a:solidFill>
                            <a:schemeClr val="tx1"/>
                          </a:solidFill>
                          <a:effectLst/>
                          <a:latin typeface="+mn-lt"/>
                          <a:ea typeface="+mn-ea"/>
                          <a:cs typeface="+mn-cs"/>
                        </a:rPr>
                        <a:t>50</a:t>
                      </a:r>
                      <a:r>
                        <a:rPr kumimoji="1" lang="ja-JP" altLang="en-US" sz="1800" b="0" kern="1200" dirty="0">
                          <a:solidFill>
                            <a:schemeClr val="tx1"/>
                          </a:solidFill>
                          <a:effectLst/>
                          <a:latin typeface="+mn-lt"/>
                          <a:ea typeface="+mn-ea"/>
                          <a:cs typeface="+mn-cs"/>
                        </a:rPr>
                        <a:t>万円</a:t>
                      </a:r>
                    </a:p>
                  </a:txBody>
                  <a:tcPr>
                    <a:solidFill>
                      <a:schemeClr val="bg1"/>
                    </a:solidFill>
                  </a:tcPr>
                </a:tc>
                <a:tc>
                  <a:txBody>
                    <a:bodyPr/>
                    <a:lstStyle/>
                    <a:p>
                      <a:r>
                        <a:rPr kumimoji="1" lang="ja-JP" altLang="en-US" dirty="0"/>
                        <a:t>延滞回数↑＝延滞金額↑　</a:t>
                      </a:r>
                      <a:r>
                        <a:rPr kumimoji="1" lang="ja-JP" altLang="en-US" sz="1800" b="0" kern="1200" dirty="0">
                          <a:solidFill>
                            <a:schemeClr val="tx1"/>
                          </a:solidFill>
                          <a:effectLst/>
                          <a:latin typeface="+mn-lt"/>
                          <a:ea typeface="+mn-ea"/>
                          <a:cs typeface="+mn-cs"/>
                        </a:rPr>
                        <a:t>微量のランダム</a:t>
                      </a:r>
                      <a:endParaRPr kumimoji="1" lang="ja-JP" altLang="en-US" dirty="0"/>
                    </a:p>
                  </a:txBody>
                  <a:tcPr>
                    <a:solidFill>
                      <a:schemeClr val="bg1"/>
                    </a:solidFill>
                  </a:tcPr>
                </a:tc>
                <a:extLst>
                  <a:ext uri="{0D108BD9-81ED-4DB2-BD59-A6C34878D82A}">
                    <a16:rowId xmlns:a16="http://schemas.microsoft.com/office/drawing/2014/main" val="3855643193"/>
                  </a:ext>
                </a:extLst>
              </a:tr>
              <a:tr h="585231">
                <a:tc>
                  <a:txBody>
                    <a:bodyPr/>
                    <a:lstStyle/>
                    <a:p>
                      <a:r>
                        <a:rPr kumimoji="1" lang="ja-JP" altLang="en-US" dirty="0"/>
                        <a:t>借入金額</a:t>
                      </a:r>
                    </a:p>
                  </a:txBody>
                  <a:tcP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dirty="0"/>
                        <a:t>他社</a:t>
                      </a:r>
                      <a:r>
                        <a:rPr kumimoji="1" lang="en-US" altLang="ja-JP" sz="1800" b="0" kern="1200" dirty="0">
                          <a:solidFill>
                            <a:schemeClr val="tx1"/>
                          </a:solidFill>
                          <a:effectLst/>
                          <a:latin typeface="+mn-lt"/>
                          <a:ea typeface="+mn-ea"/>
                          <a:cs typeface="+mn-cs"/>
                        </a:rPr>
                        <a:t>0</a:t>
                      </a:r>
                      <a:r>
                        <a:rPr kumimoji="1" lang="ja-JP" altLang="en-US" sz="1800" b="0" kern="1200" dirty="0">
                          <a:solidFill>
                            <a:schemeClr val="tx1"/>
                          </a:solidFill>
                          <a:effectLst/>
                          <a:latin typeface="+mn-lt"/>
                          <a:ea typeface="+mn-ea"/>
                          <a:cs typeface="+mn-cs"/>
                        </a:rPr>
                        <a:t>～</a:t>
                      </a:r>
                      <a:r>
                        <a:rPr kumimoji="1" lang="en-US" altLang="ja-JP" sz="1800" b="0" kern="1200" dirty="0">
                          <a:solidFill>
                            <a:schemeClr val="tx1"/>
                          </a:solidFill>
                          <a:effectLst/>
                          <a:latin typeface="+mn-lt"/>
                          <a:ea typeface="+mn-ea"/>
                          <a:cs typeface="+mn-cs"/>
                        </a:rPr>
                        <a:t>500</a:t>
                      </a:r>
                      <a:r>
                        <a:rPr kumimoji="1" lang="ja-JP" altLang="en-US" sz="1800" b="0" kern="1200" dirty="0">
                          <a:solidFill>
                            <a:schemeClr val="tx1"/>
                          </a:solidFill>
                          <a:effectLst/>
                          <a:latin typeface="+mn-lt"/>
                          <a:ea typeface="+mn-ea"/>
                          <a:cs typeface="+mn-cs"/>
                        </a:rPr>
                        <a:t>万円</a:t>
                      </a:r>
                    </a:p>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dirty="0"/>
                        <a:t>自社</a:t>
                      </a:r>
                      <a:r>
                        <a:rPr kumimoji="1" lang="en-US" altLang="ja-JP" sz="1800" b="0" kern="1200" dirty="0">
                          <a:solidFill>
                            <a:schemeClr val="tx1"/>
                          </a:solidFill>
                          <a:effectLst/>
                          <a:latin typeface="+mn-lt"/>
                          <a:ea typeface="+mn-ea"/>
                          <a:cs typeface="+mn-cs"/>
                        </a:rPr>
                        <a:t>0</a:t>
                      </a:r>
                      <a:r>
                        <a:rPr kumimoji="1" lang="ja-JP" altLang="en-US" sz="1800" b="0" kern="1200" dirty="0">
                          <a:solidFill>
                            <a:schemeClr val="tx1"/>
                          </a:solidFill>
                          <a:effectLst/>
                          <a:latin typeface="+mn-lt"/>
                          <a:ea typeface="+mn-ea"/>
                          <a:cs typeface="+mn-cs"/>
                        </a:rPr>
                        <a:t>～</a:t>
                      </a:r>
                      <a:r>
                        <a:rPr kumimoji="1" lang="en-US" altLang="ja-JP" sz="1800" b="0" kern="1200" dirty="0">
                          <a:solidFill>
                            <a:schemeClr val="tx1"/>
                          </a:solidFill>
                          <a:effectLst/>
                          <a:latin typeface="+mn-lt"/>
                          <a:ea typeface="+mn-ea"/>
                          <a:cs typeface="+mn-cs"/>
                        </a:rPr>
                        <a:t>100</a:t>
                      </a:r>
                      <a:r>
                        <a:rPr kumimoji="1" lang="ja-JP" altLang="en-US" sz="1800" b="0" kern="1200" dirty="0">
                          <a:solidFill>
                            <a:schemeClr val="tx1"/>
                          </a:solidFill>
                          <a:effectLst/>
                          <a:latin typeface="+mn-lt"/>
                          <a:ea typeface="+mn-ea"/>
                          <a:cs typeface="+mn-cs"/>
                        </a:rPr>
                        <a:t>万円</a:t>
                      </a:r>
                    </a:p>
                  </a:txBody>
                  <a:tcP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dirty="0"/>
                        <a:t>延滞回数↑＝借入金額↑　</a:t>
                      </a:r>
                      <a:r>
                        <a:rPr kumimoji="1" lang="ja-JP" altLang="en-US" sz="1800" b="0" kern="1200" dirty="0">
                          <a:solidFill>
                            <a:schemeClr val="tx1"/>
                          </a:solidFill>
                          <a:effectLst/>
                          <a:latin typeface="+mn-lt"/>
                          <a:ea typeface="+mn-ea"/>
                          <a:cs typeface="+mn-cs"/>
                        </a:rPr>
                        <a:t>微量のランダム</a:t>
                      </a:r>
                      <a:endParaRPr kumimoji="1" lang="ja-JP" altLang="en-US" dirty="0"/>
                    </a:p>
                    <a:p>
                      <a:endParaRPr kumimoji="1" lang="ja-JP" altLang="en-US" dirty="0"/>
                    </a:p>
                  </a:txBody>
                  <a:tcPr>
                    <a:solidFill>
                      <a:schemeClr val="bg1"/>
                    </a:solidFill>
                  </a:tcPr>
                </a:tc>
                <a:extLst>
                  <a:ext uri="{0D108BD9-81ED-4DB2-BD59-A6C34878D82A}">
                    <a16:rowId xmlns:a16="http://schemas.microsoft.com/office/drawing/2014/main" val="4202234777"/>
                  </a:ext>
                </a:extLst>
              </a:tr>
            </a:tbl>
          </a:graphicData>
        </a:graphic>
      </p:graphicFrame>
    </p:spTree>
    <p:extLst>
      <p:ext uri="{BB962C8B-B14F-4D97-AF65-F5344CB8AC3E}">
        <p14:creationId xmlns:p14="http://schemas.microsoft.com/office/powerpoint/2010/main" val="3058102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EF9B8CAD-2056-F9A2-4ADD-7BB0571E5009}"/>
              </a:ext>
            </a:extLst>
          </p:cNvPr>
          <p:cNvSpPr>
            <a:spLocks noGrp="1"/>
          </p:cNvSpPr>
          <p:nvPr>
            <p:ph type="title"/>
          </p:nvPr>
        </p:nvSpPr>
        <p:spPr>
          <a:xfrm>
            <a:off x="677334" y="609600"/>
            <a:ext cx="8596668" cy="825795"/>
          </a:xfrm>
        </p:spPr>
        <p:txBody>
          <a:bodyPr/>
          <a:lstStyle/>
          <a:p>
            <a:r>
              <a:rPr lang="ja-JP" altLang="en-US" dirty="0"/>
              <a:t>分析方法１</a:t>
            </a:r>
          </a:p>
        </p:txBody>
      </p:sp>
      <p:sp>
        <p:nvSpPr>
          <p:cNvPr id="8" name="コンテンツ プレースホルダー 7">
            <a:extLst>
              <a:ext uri="{FF2B5EF4-FFF2-40B4-BE49-F238E27FC236}">
                <a16:creationId xmlns:a16="http://schemas.microsoft.com/office/drawing/2014/main" id="{4A753B47-0592-A6DA-46F5-6C8EC8A11B23}"/>
              </a:ext>
            </a:extLst>
          </p:cNvPr>
          <p:cNvSpPr>
            <a:spLocks noGrp="1"/>
          </p:cNvSpPr>
          <p:nvPr>
            <p:ph idx="1"/>
          </p:nvPr>
        </p:nvSpPr>
        <p:spPr>
          <a:xfrm>
            <a:off x="368989" y="1852246"/>
            <a:ext cx="9742573" cy="3464033"/>
          </a:xfrm>
        </p:spPr>
        <p:txBody>
          <a:bodyPr>
            <a:normAutofit/>
          </a:bodyPr>
          <a:lstStyle/>
          <a:p>
            <a:r>
              <a:rPr lang="ja-JP" altLang="en-US" sz="2000" dirty="0"/>
              <a:t>項目別延滞率計算</a:t>
            </a:r>
            <a:endParaRPr lang="en-US" altLang="ja-JP" sz="2000" dirty="0"/>
          </a:p>
          <a:p>
            <a:pPr marL="0" indent="0">
              <a:buNone/>
            </a:pPr>
            <a:r>
              <a:rPr lang="ja-JP" altLang="en-US" dirty="0"/>
              <a:t>　・使用ツール　</a:t>
            </a:r>
            <a:r>
              <a:rPr lang="en-US" altLang="ja-JP" dirty="0"/>
              <a:t>SQL</a:t>
            </a:r>
          </a:p>
          <a:p>
            <a:pPr marL="0" indent="0">
              <a:buNone/>
            </a:pPr>
            <a:r>
              <a:rPr lang="ja-JP" altLang="en-US" dirty="0"/>
              <a:t>　・コード説明　</a:t>
            </a:r>
            <a:endParaRPr lang="en-US" altLang="ja-JP" dirty="0"/>
          </a:p>
          <a:p>
            <a:pPr marL="0" indent="0">
              <a:buNone/>
            </a:pPr>
            <a:r>
              <a:rPr lang="ja-JP" altLang="en-US" dirty="0"/>
              <a:t>　　  </a:t>
            </a:r>
            <a:r>
              <a:rPr lang="en-US" altLang="ja-JP" dirty="0"/>
              <a:t>SELECT</a:t>
            </a:r>
          </a:p>
          <a:p>
            <a:pPr marL="0" indent="0">
              <a:buNone/>
            </a:pPr>
            <a:r>
              <a:rPr lang="en-US" altLang="ja-JP" dirty="0"/>
              <a:t>         CASE WHEN </a:t>
            </a:r>
            <a:r>
              <a:rPr lang="ja-JP" altLang="en-US" dirty="0"/>
              <a:t>審査項目（グループ別）</a:t>
            </a:r>
            <a:r>
              <a:rPr lang="en-US" altLang="ja-JP" dirty="0"/>
              <a:t>THEN… END ,   </a:t>
            </a:r>
            <a:r>
              <a:rPr lang="en-US" altLang="ja-JP" i="1" u="sng" dirty="0">
                <a:solidFill>
                  <a:schemeClr val="bg1">
                    <a:lumMod val="50000"/>
                  </a:schemeClr>
                </a:solidFill>
              </a:rPr>
              <a:t>20</a:t>
            </a:r>
            <a:r>
              <a:rPr lang="ja-JP" altLang="en-US" i="1" u="sng" dirty="0">
                <a:solidFill>
                  <a:schemeClr val="bg1">
                    <a:lumMod val="50000"/>
                  </a:schemeClr>
                </a:solidFill>
              </a:rPr>
              <a:t>代、</a:t>
            </a:r>
            <a:r>
              <a:rPr lang="en-US" altLang="ja-JP" i="1" u="sng" dirty="0">
                <a:solidFill>
                  <a:schemeClr val="bg1">
                    <a:lumMod val="50000"/>
                  </a:schemeClr>
                </a:solidFill>
              </a:rPr>
              <a:t>30</a:t>
            </a:r>
            <a:r>
              <a:rPr lang="ja-JP" altLang="en-US" i="1" u="sng" dirty="0">
                <a:solidFill>
                  <a:schemeClr val="bg1">
                    <a:lumMod val="50000"/>
                  </a:schemeClr>
                </a:solidFill>
              </a:rPr>
              <a:t>代など審査項目を分ける</a:t>
            </a:r>
            <a:endParaRPr lang="en-US" altLang="ja-JP" i="1" u="sng" dirty="0">
              <a:solidFill>
                <a:schemeClr val="bg1">
                  <a:lumMod val="50000"/>
                </a:schemeClr>
              </a:solidFill>
            </a:endParaRPr>
          </a:p>
          <a:p>
            <a:pPr marL="0" indent="0">
              <a:buNone/>
            </a:pPr>
            <a:r>
              <a:rPr lang="en-US" altLang="ja-JP" dirty="0"/>
              <a:t>         AVG(</a:t>
            </a:r>
            <a:r>
              <a:rPr lang="ja-JP" altLang="en-US" dirty="0"/>
              <a:t>延滞かどうか</a:t>
            </a:r>
            <a:r>
              <a:rPr lang="en-US" altLang="ja-JP" dirty="0"/>
              <a:t>)  </a:t>
            </a:r>
            <a:r>
              <a:rPr lang="ja-JP" altLang="en-US" i="1" u="sng" dirty="0">
                <a:solidFill>
                  <a:schemeClr val="bg1">
                    <a:lumMod val="50000"/>
                  </a:schemeClr>
                </a:solidFill>
              </a:rPr>
              <a:t>延滞率計算</a:t>
            </a:r>
            <a:endParaRPr lang="en-US" altLang="ja-JP" i="1" u="sng" dirty="0">
              <a:solidFill>
                <a:schemeClr val="bg1">
                  <a:lumMod val="50000"/>
                </a:schemeClr>
              </a:solidFill>
            </a:endParaRPr>
          </a:p>
          <a:p>
            <a:pPr marL="0" indent="0">
              <a:buNone/>
            </a:pPr>
            <a:r>
              <a:rPr lang="en-US" altLang="ja-JP" dirty="0"/>
              <a:t>         FROM </a:t>
            </a:r>
            <a:r>
              <a:rPr lang="ja-JP" altLang="en-US" dirty="0"/>
              <a:t>仮想データ</a:t>
            </a:r>
            <a:endParaRPr lang="en-US" altLang="ja-JP" dirty="0"/>
          </a:p>
          <a:p>
            <a:pPr marL="0" indent="0">
              <a:buNone/>
            </a:pPr>
            <a:r>
              <a:rPr lang="ja-JP" altLang="en-US" dirty="0"/>
              <a:t> </a:t>
            </a:r>
            <a:r>
              <a:rPr lang="en-US" altLang="ja-JP" dirty="0"/>
              <a:t>       GROUP BY</a:t>
            </a:r>
            <a:r>
              <a:rPr lang="ja-JP" altLang="en-US" dirty="0"/>
              <a:t>審査項目（グループ別）</a:t>
            </a:r>
            <a:r>
              <a:rPr lang="ja-JP" altLang="en-US" i="1" u="sng" dirty="0">
                <a:solidFill>
                  <a:schemeClr val="bg1">
                    <a:lumMod val="50000"/>
                  </a:schemeClr>
                </a:solidFill>
              </a:rPr>
              <a:t>グループごとの延滞率を出す</a:t>
            </a:r>
            <a:endParaRPr lang="en-US" altLang="ja-JP" i="1" u="sng" dirty="0">
              <a:solidFill>
                <a:schemeClr val="bg1">
                  <a:lumMod val="50000"/>
                </a:schemeClr>
              </a:solidFill>
            </a:endParaRPr>
          </a:p>
          <a:p>
            <a:pPr marL="0" indent="0">
              <a:buNone/>
            </a:pPr>
            <a:endParaRPr lang="ja-JP" altLang="en-US" dirty="0"/>
          </a:p>
        </p:txBody>
      </p:sp>
    </p:spTree>
    <p:extLst>
      <p:ext uri="{BB962C8B-B14F-4D97-AF65-F5344CB8AC3E}">
        <p14:creationId xmlns:p14="http://schemas.microsoft.com/office/powerpoint/2010/main" val="35651162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FC203-899B-018D-6458-4541183D744B}"/>
            </a:ext>
          </a:extLst>
        </p:cNvPr>
        <p:cNvGrpSpPr/>
        <p:nvPr/>
      </p:nvGrpSpPr>
      <p:grpSpPr>
        <a:xfrm>
          <a:off x="0" y="0"/>
          <a:ext cx="0" cy="0"/>
          <a:chOff x="0" y="0"/>
          <a:chExt cx="0" cy="0"/>
        </a:xfrm>
      </p:grpSpPr>
      <p:sp>
        <p:nvSpPr>
          <p:cNvPr id="7" name="タイトル 6">
            <a:extLst>
              <a:ext uri="{FF2B5EF4-FFF2-40B4-BE49-F238E27FC236}">
                <a16:creationId xmlns:a16="http://schemas.microsoft.com/office/drawing/2014/main" id="{A71186BB-DE9B-75C5-E5B8-76269013EF0C}"/>
              </a:ext>
            </a:extLst>
          </p:cNvPr>
          <p:cNvSpPr>
            <a:spLocks noGrp="1"/>
          </p:cNvSpPr>
          <p:nvPr>
            <p:ph type="title"/>
          </p:nvPr>
        </p:nvSpPr>
        <p:spPr>
          <a:xfrm>
            <a:off x="677334" y="609600"/>
            <a:ext cx="8596668" cy="825795"/>
          </a:xfrm>
        </p:spPr>
        <p:txBody>
          <a:bodyPr/>
          <a:lstStyle/>
          <a:p>
            <a:r>
              <a:rPr lang="ja-JP" altLang="en-US" dirty="0"/>
              <a:t>分析方法２</a:t>
            </a:r>
          </a:p>
        </p:txBody>
      </p:sp>
      <p:sp>
        <p:nvSpPr>
          <p:cNvPr id="8" name="コンテンツ プレースホルダー 7">
            <a:extLst>
              <a:ext uri="{FF2B5EF4-FFF2-40B4-BE49-F238E27FC236}">
                <a16:creationId xmlns:a16="http://schemas.microsoft.com/office/drawing/2014/main" id="{EA93ED55-09E0-DC7D-B73B-3EBF39E74753}"/>
              </a:ext>
            </a:extLst>
          </p:cNvPr>
          <p:cNvSpPr>
            <a:spLocks noGrp="1"/>
          </p:cNvSpPr>
          <p:nvPr>
            <p:ph idx="1"/>
          </p:nvPr>
        </p:nvSpPr>
        <p:spPr>
          <a:xfrm>
            <a:off x="411518" y="1584251"/>
            <a:ext cx="10742034" cy="5273749"/>
          </a:xfrm>
        </p:spPr>
        <p:txBody>
          <a:bodyPr>
            <a:normAutofit fontScale="92500" lnSpcReduction="10000"/>
          </a:bodyPr>
          <a:lstStyle/>
          <a:p>
            <a:r>
              <a:rPr lang="ja-JP" altLang="en-US" sz="2000" dirty="0"/>
              <a:t>延滞予測モデル作成</a:t>
            </a:r>
            <a:endParaRPr lang="en-US" altLang="ja-JP" sz="2000" dirty="0"/>
          </a:p>
          <a:p>
            <a:pPr marL="0" indent="0">
              <a:buNone/>
            </a:pPr>
            <a:r>
              <a:rPr lang="ja-JP" altLang="en-US" dirty="0"/>
              <a:t>　・使用ツール　</a:t>
            </a:r>
            <a:r>
              <a:rPr lang="en-US" altLang="ja-JP" dirty="0"/>
              <a:t>Python</a:t>
            </a:r>
          </a:p>
          <a:p>
            <a:pPr marL="0" indent="0">
              <a:buNone/>
            </a:pPr>
            <a:r>
              <a:rPr lang="ja-JP" altLang="en-US" dirty="0"/>
              <a:t>　・コード説明</a:t>
            </a:r>
            <a:endParaRPr lang="en-US" altLang="ja-JP" dirty="0"/>
          </a:p>
          <a:p>
            <a:pPr marL="0" indent="0">
              <a:buNone/>
            </a:pPr>
            <a:r>
              <a:rPr lang="ja-JP" altLang="en-US" dirty="0"/>
              <a:t>　　　説明変数：審査項目</a:t>
            </a:r>
            <a:endParaRPr lang="en-US" altLang="ja-JP" dirty="0"/>
          </a:p>
          <a:p>
            <a:pPr marL="0" indent="0">
              <a:buNone/>
            </a:pPr>
            <a:r>
              <a:rPr lang="ja-JP" altLang="en-US" dirty="0"/>
              <a:t>　　　目的変数：延滞率</a:t>
            </a:r>
            <a:endParaRPr lang="en-US" altLang="ja-JP" dirty="0"/>
          </a:p>
          <a:p>
            <a:pPr marL="0" indent="0">
              <a:buNone/>
            </a:pPr>
            <a:r>
              <a:rPr lang="ja-JP" altLang="en-US" dirty="0"/>
              <a:t>　　　モデル生成：</a:t>
            </a:r>
            <a:r>
              <a:rPr lang="en-US" altLang="ja-JP" dirty="0"/>
              <a:t>model=LogisticRegression(</a:t>
            </a:r>
            <a:r>
              <a:rPr lang="en-US" altLang="ja-JP" dirty="0" err="1"/>
              <a:t>class_weight</a:t>
            </a:r>
            <a:r>
              <a:rPr lang="en-US" altLang="ja-JP" dirty="0"/>
              <a:t>=‘balanced’)</a:t>
            </a:r>
            <a:r>
              <a:rPr lang="ja-JP" altLang="en-US" u="sng" dirty="0">
                <a:solidFill>
                  <a:schemeClr val="bg1">
                    <a:lumMod val="50000"/>
                  </a:schemeClr>
                </a:solidFill>
              </a:rPr>
              <a:t>（不均等データのため重さ調整）</a:t>
            </a:r>
            <a:endParaRPr lang="en-US" altLang="ja-JP" u="sng" dirty="0">
              <a:solidFill>
                <a:schemeClr val="bg1">
                  <a:lumMod val="50000"/>
                </a:schemeClr>
              </a:solidFill>
            </a:endParaRPr>
          </a:p>
          <a:p>
            <a:pPr marL="0" indent="0">
              <a:buNone/>
            </a:pPr>
            <a:r>
              <a:rPr lang="ja-JP" altLang="en-US" dirty="0"/>
              <a:t>　　　閾値：</a:t>
            </a:r>
            <a:r>
              <a:rPr lang="en-US" altLang="ja-JP" dirty="0"/>
              <a:t>threshold = 0.47</a:t>
            </a:r>
            <a:r>
              <a:rPr lang="ja-JP" altLang="en-US" dirty="0"/>
              <a:t> </a:t>
            </a:r>
            <a:r>
              <a:rPr lang="en-US" altLang="ja-JP" dirty="0">
                <a:solidFill>
                  <a:schemeClr val="bg1">
                    <a:lumMod val="50000"/>
                  </a:schemeClr>
                </a:solidFill>
              </a:rPr>
              <a:t>(</a:t>
            </a:r>
            <a:r>
              <a:rPr lang="ja-JP" altLang="en-US" dirty="0">
                <a:solidFill>
                  <a:schemeClr val="bg1">
                    <a:lumMod val="50000"/>
                  </a:schemeClr>
                </a:solidFill>
              </a:rPr>
              <a:t>再現率高めになるよう設定</a:t>
            </a:r>
            <a:r>
              <a:rPr lang="en-US" altLang="ja-JP" dirty="0">
                <a:solidFill>
                  <a:schemeClr val="bg1">
                    <a:lumMod val="50000"/>
                  </a:schemeClr>
                </a:solidFill>
              </a:rPr>
              <a:t>)</a:t>
            </a:r>
          </a:p>
          <a:p>
            <a:pPr marL="0" indent="0">
              <a:buNone/>
            </a:pPr>
            <a:r>
              <a:rPr lang="ja-JP" altLang="en-US" dirty="0">
                <a:solidFill>
                  <a:schemeClr val="bg1">
                    <a:lumMod val="50000"/>
                  </a:schemeClr>
                </a:solidFill>
              </a:rPr>
              <a:t>　　</a:t>
            </a:r>
            <a:endParaRPr lang="en-US" altLang="ja-JP" dirty="0">
              <a:solidFill>
                <a:schemeClr val="bg1">
                  <a:lumMod val="50000"/>
                </a:schemeClr>
              </a:solidFill>
            </a:endParaRPr>
          </a:p>
          <a:p>
            <a:pPr marL="0" indent="0">
              <a:buNone/>
            </a:pPr>
            <a:r>
              <a:rPr lang="ja-JP" altLang="en-US" dirty="0">
                <a:solidFill>
                  <a:schemeClr val="bg1">
                    <a:lumMod val="50000"/>
                  </a:schemeClr>
                </a:solidFill>
              </a:rPr>
              <a:t>　</a:t>
            </a:r>
            <a:r>
              <a:rPr lang="ja-JP" altLang="en-US" dirty="0">
                <a:solidFill>
                  <a:schemeClr val="tx1"/>
                </a:solidFill>
              </a:rPr>
              <a:t>・評価</a:t>
            </a:r>
            <a:endParaRPr lang="en-US" altLang="ja-JP" dirty="0">
              <a:solidFill>
                <a:schemeClr val="tx1"/>
              </a:solidFill>
            </a:endParaRPr>
          </a:p>
          <a:p>
            <a:pPr marL="0" indent="0">
              <a:buNone/>
            </a:pPr>
            <a:r>
              <a:rPr lang="ja-JP" altLang="en-US" dirty="0">
                <a:solidFill>
                  <a:schemeClr val="tx1"/>
                </a:solidFill>
              </a:rPr>
              <a:t>　　　</a:t>
            </a:r>
            <a:r>
              <a:rPr lang="ja-JP" altLang="en-US" dirty="0"/>
              <a:t>再現率</a:t>
            </a:r>
            <a:r>
              <a:rPr lang="en-US" altLang="ja-JP" dirty="0"/>
              <a:t>:0.71 </a:t>
            </a:r>
          </a:p>
          <a:p>
            <a:pPr marL="0" indent="0">
              <a:buNone/>
            </a:pPr>
            <a:r>
              <a:rPr lang="ja-JP" altLang="en-US" dirty="0"/>
              <a:t>　　　混合同列</a:t>
            </a:r>
            <a:r>
              <a:rPr lang="en-US" altLang="ja-JP" dirty="0"/>
              <a:t>[[563 248] [ 54 135]] </a:t>
            </a:r>
          </a:p>
          <a:p>
            <a:pPr marL="0" indent="0">
              <a:buNone/>
            </a:pPr>
            <a:r>
              <a:rPr lang="ja-JP" altLang="en-US" dirty="0"/>
              <a:t>　　　</a:t>
            </a:r>
            <a:r>
              <a:rPr lang="en-US" altLang="ja-JP" dirty="0"/>
              <a:t>AUC:0.78</a:t>
            </a:r>
            <a:endParaRPr lang="en-US" altLang="ja-JP" dirty="0">
              <a:solidFill>
                <a:schemeClr val="tx1"/>
              </a:solidFill>
            </a:endParaRPr>
          </a:p>
          <a:p>
            <a:pPr marL="0" indent="0">
              <a:buNone/>
            </a:pPr>
            <a:r>
              <a:rPr lang="ja-JP" altLang="en-US" dirty="0">
                <a:solidFill>
                  <a:schemeClr val="bg1">
                    <a:lumMod val="50000"/>
                  </a:schemeClr>
                </a:solidFill>
              </a:rPr>
              <a:t>　　</a:t>
            </a:r>
          </a:p>
          <a:p>
            <a:pPr marL="0" indent="0">
              <a:buNone/>
            </a:pPr>
            <a:r>
              <a:rPr lang="ja-JP" altLang="en-US" dirty="0"/>
              <a:t>　</a:t>
            </a:r>
          </a:p>
        </p:txBody>
      </p:sp>
      <p:pic>
        <p:nvPicPr>
          <p:cNvPr id="1028" name="Picture 4">
            <a:extLst>
              <a:ext uri="{FF2B5EF4-FFF2-40B4-BE49-F238E27FC236}">
                <a16:creationId xmlns:a16="http://schemas.microsoft.com/office/drawing/2014/main" id="{19E8D50D-2F08-5096-5C4D-33A65C94C4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9858" y="4221125"/>
            <a:ext cx="3456580" cy="25244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32414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1768035-6E18-0607-3269-23BF93A550AB}"/>
              </a:ext>
            </a:extLst>
          </p:cNvPr>
          <p:cNvSpPr>
            <a:spLocks noGrp="1"/>
          </p:cNvSpPr>
          <p:nvPr>
            <p:ph type="title"/>
          </p:nvPr>
        </p:nvSpPr>
        <p:spPr/>
        <p:txBody>
          <a:bodyPr/>
          <a:lstStyle/>
          <a:p>
            <a:r>
              <a:rPr kumimoji="1" lang="ja-JP" altLang="en-US" dirty="0"/>
              <a:t>分析方法３</a:t>
            </a:r>
          </a:p>
        </p:txBody>
      </p:sp>
      <p:sp>
        <p:nvSpPr>
          <p:cNvPr id="3" name="コンテンツ プレースホルダー 2">
            <a:extLst>
              <a:ext uri="{FF2B5EF4-FFF2-40B4-BE49-F238E27FC236}">
                <a16:creationId xmlns:a16="http://schemas.microsoft.com/office/drawing/2014/main" id="{D13AD8DB-ADB2-35C4-C031-6FE33C1B77BC}"/>
              </a:ext>
            </a:extLst>
          </p:cNvPr>
          <p:cNvSpPr>
            <a:spLocks noGrp="1"/>
          </p:cNvSpPr>
          <p:nvPr>
            <p:ph idx="1"/>
          </p:nvPr>
        </p:nvSpPr>
        <p:spPr/>
        <p:txBody>
          <a:bodyPr>
            <a:normAutofit/>
          </a:bodyPr>
          <a:lstStyle/>
          <a:p>
            <a:r>
              <a:rPr kumimoji="1" lang="ja-JP" altLang="en-US" sz="2000" dirty="0"/>
              <a:t>延滞率影響度ランキングの作成</a:t>
            </a:r>
            <a:endParaRPr kumimoji="1" lang="en-US" altLang="ja-JP" sz="2000" dirty="0"/>
          </a:p>
          <a:p>
            <a:pPr marL="0" indent="0">
              <a:buNone/>
            </a:pPr>
            <a:r>
              <a:rPr lang="ja-JP" altLang="en-US" dirty="0"/>
              <a:t>　・使用ツール　</a:t>
            </a:r>
            <a:r>
              <a:rPr lang="en-US" altLang="ja-JP" dirty="0"/>
              <a:t>Python</a:t>
            </a:r>
          </a:p>
          <a:p>
            <a:pPr marL="0" indent="0">
              <a:buNone/>
            </a:pPr>
            <a:r>
              <a:rPr kumimoji="1" lang="ja-JP" altLang="en-US" dirty="0"/>
              <a:t>　・コード説明</a:t>
            </a:r>
            <a:endParaRPr kumimoji="1" lang="en-US" altLang="ja-JP" dirty="0"/>
          </a:p>
          <a:p>
            <a:pPr marL="0" indent="0">
              <a:buNone/>
            </a:pPr>
            <a:r>
              <a:rPr lang="ja-JP" altLang="en-US" dirty="0"/>
              <a:t>　　</a:t>
            </a:r>
            <a:r>
              <a:rPr lang="en-US" altLang="ja-JP" dirty="0" err="1"/>
              <a:t>df</a:t>
            </a:r>
            <a:r>
              <a:rPr lang="en-US" altLang="ja-JP" dirty="0"/>
              <a:t>[“</a:t>
            </a:r>
            <a:r>
              <a:rPr lang="ja-JP" altLang="en-US" dirty="0"/>
              <a:t>影響度</a:t>
            </a:r>
            <a:r>
              <a:rPr lang="en-US" altLang="ja-JP" dirty="0"/>
              <a:t>”] = </a:t>
            </a:r>
            <a:r>
              <a:rPr lang="en-US" altLang="ja-JP" dirty="0" err="1"/>
              <a:t>df</a:t>
            </a:r>
            <a:r>
              <a:rPr lang="en-US" altLang="ja-JP" dirty="0"/>
              <a:t>["</a:t>
            </a:r>
            <a:r>
              <a:rPr lang="ja-JP" altLang="en-US" dirty="0"/>
              <a:t>係数</a:t>
            </a:r>
            <a:r>
              <a:rPr lang="en-US" altLang="ja-JP" dirty="0"/>
              <a:t>"].abs()</a:t>
            </a:r>
          </a:p>
          <a:p>
            <a:pPr marL="0" indent="0">
              <a:buNone/>
            </a:pPr>
            <a:r>
              <a:rPr lang="ja-JP" altLang="en-US" dirty="0">
                <a:solidFill>
                  <a:schemeClr val="bg1">
                    <a:lumMod val="50000"/>
                  </a:schemeClr>
                </a:solidFill>
              </a:rPr>
              <a:t>　　→</a:t>
            </a:r>
            <a:r>
              <a:rPr lang="ja-JP" altLang="en-US" u="sng" dirty="0">
                <a:solidFill>
                  <a:schemeClr val="bg1">
                    <a:lumMod val="50000"/>
                  </a:schemeClr>
                </a:solidFill>
              </a:rPr>
              <a:t>ロジスティック回帰で出した係数の絶対地に変換</a:t>
            </a:r>
            <a:endParaRPr lang="en-US" altLang="ja-JP" u="sng" dirty="0">
              <a:solidFill>
                <a:schemeClr val="bg1">
                  <a:lumMod val="50000"/>
                </a:schemeClr>
              </a:solidFill>
            </a:endParaRPr>
          </a:p>
          <a:p>
            <a:pPr marL="0" indent="0">
              <a:buNone/>
            </a:pPr>
            <a:r>
              <a:rPr lang="ja-JP" altLang="en-US" dirty="0"/>
              <a:t>　　</a:t>
            </a:r>
            <a:r>
              <a:rPr lang="en-US" altLang="ja-JP" dirty="0"/>
              <a:t> </a:t>
            </a:r>
            <a:r>
              <a:rPr lang="en-US" altLang="ja-JP" dirty="0" err="1"/>
              <a:t>df</a:t>
            </a:r>
            <a:r>
              <a:rPr lang="en-US" altLang="ja-JP" dirty="0"/>
              <a:t> = </a:t>
            </a:r>
            <a:r>
              <a:rPr lang="en-US" altLang="ja-JP" dirty="0" err="1"/>
              <a:t>df.sort_values</a:t>
            </a:r>
            <a:r>
              <a:rPr lang="en-US" altLang="ja-JP" dirty="0"/>
              <a:t>("</a:t>
            </a:r>
            <a:r>
              <a:rPr lang="ja-JP" altLang="en-US" dirty="0"/>
              <a:t>影響度</a:t>
            </a:r>
            <a:r>
              <a:rPr lang="en-US" altLang="ja-JP" dirty="0"/>
              <a:t>", ascending=False)</a:t>
            </a:r>
          </a:p>
          <a:p>
            <a:pPr marL="0" indent="0">
              <a:buNone/>
            </a:pPr>
            <a:r>
              <a:rPr lang="ja-JP" altLang="en-US" dirty="0">
                <a:solidFill>
                  <a:schemeClr val="bg1">
                    <a:lumMod val="50000"/>
                  </a:schemeClr>
                </a:solidFill>
              </a:rPr>
              <a:t>　　→</a:t>
            </a:r>
            <a:r>
              <a:rPr lang="ja-JP" altLang="en-US" u="sng" dirty="0">
                <a:solidFill>
                  <a:schemeClr val="bg1">
                    <a:lumMod val="50000"/>
                  </a:schemeClr>
                </a:solidFill>
              </a:rPr>
              <a:t>大きい順に並び変え</a:t>
            </a:r>
            <a:endParaRPr lang="en-US" altLang="ja-JP" u="sng" dirty="0">
              <a:solidFill>
                <a:schemeClr val="bg1">
                  <a:lumMod val="50000"/>
                </a:schemeClr>
              </a:solidFill>
            </a:endParaRPr>
          </a:p>
          <a:p>
            <a:pPr marL="0" indent="0">
              <a:buNone/>
            </a:pPr>
            <a:r>
              <a:rPr lang="ja-JP" altLang="en-US" dirty="0"/>
              <a:t>　</a:t>
            </a:r>
            <a:endParaRPr kumimoji="1" lang="ja-JP" altLang="en-US" dirty="0"/>
          </a:p>
        </p:txBody>
      </p:sp>
    </p:spTree>
    <p:extLst>
      <p:ext uri="{BB962C8B-B14F-4D97-AF65-F5344CB8AC3E}">
        <p14:creationId xmlns:p14="http://schemas.microsoft.com/office/powerpoint/2010/main" val="9083853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7FCF1CC-6C74-E508-6F31-677587C0D556}"/>
              </a:ext>
            </a:extLst>
          </p:cNvPr>
          <p:cNvSpPr>
            <a:spLocks noGrp="1"/>
          </p:cNvSpPr>
          <p:nvPr>
            <p:ph type="title"/>
          </p:nvPr>
        </p:nvSpPr>
        <p:spPr/>
        <p:txBody>
          <a:bodyPr/>
          <a:lstStyle/>
          <a:p>
            <a:r>
              <a:rPr kumimoji="1" lang="ja-JP" altLang="en-US" dirty="0"/>
              <a:t>処理フロー図</a:t>
            </a:r>
          </a:p>
        </p:txBody>
      </p:sp>
      <p:graphicFrame>
        <p:nvGraphicFramePr>
          <p:cNvPr id="4" name="コンテンツ プレースホルダー 3">
            <a:extLst>
              <a:ext uri="{FF2B5EF4-FFF2-40B4-BE49-F238E27FC236}">
                <a16:creationId xmlns:a16="http://schemas.microsoft.com/office/drawing/2014/main" id="{4E728F5C-9C0E-E03D-AA55-3DFC82B22B4D}"/>
              </a:ext>
            </a:extLst>
          </p:cNvPr>
          <p:cNvGraphicFramePr>
            <a:graphicFrameLocks noGrp="1"/>
          </p:cNvGraphicFramePr>
          <p:nvPr>
            <p:ph idx="1"/>
            <p:extLst>
              <p:ext uri="{D42A27DB-BD31-4B8C-83A1-F6EECF244321}">
                <p14:modId xmlns:p14="http://schemas.microsoft.com/office/powerpoint/2010/main" val="3018055997"/>
              </p:ext>
            </p:extLst>
          </p:nvPr>
        </p:nvGraphicFramePr>
        <p:xfrm>
          <a:off x="677863" y="2160588"/>
          <a:ext cx="8596312" cy="38814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620481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7BCE436-E184-CFE2-7A06-7CA03B701BD9}"/>
              </a:ext>
            </a:extLst>
          </p:cNvPr>
          <p:cNvSpPr>
            <a:spLocks noGrp="1"/>
          </p:cNvSpPr>
          <p:nvPr>
            <p:ph type="title"/>
          </p:nvPr>
        </p:nvSpPr>
        <p:spPr/>
        <p:txBody>
          <a:bodyPr/>
          <a:lstStyle/>
          <a:p>
            <a:r>
              <a:rPr kumimoji="1" lang="ja-JP" altLang="en-US" dirty="0"/>
              <a:t>分析結果１（項目別延滞率グラフ）</a:t>
            </a:r>
          </a:p>
        </p:txBody>
      </p:sp>
      <p:pic>
        <p:nvPicPr>
          <p:cNvPr id="2050" name="Picture 2">
            <a:extLst>
              <a:ext uri="{FF2B5EF4-FFF2-40B4-BE49-F238E27FC236}">
                <a16:creationId xmlns:a16="http://schemas.microsoft.com/office/drawing/2014/main" id="{00D7A462-1D61-7BA8-49F1-311127CB2CC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41332" y="1158948"/>
            <a:ext cx="3997025" cy="287079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4B42818A-FEC9-3145-08C5-3A8BEA731B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4359" y="1158948"/>
            <a:ext cx="3916136" cy="3238206"/>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AD4F988F-CBB6-0E92-812B-3948B167F99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7846" y="3987208"/>
            <a:ext cx="3997025" cy="28707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70453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BCCC75C-3E9B-0787-2454-F2E09CEF2B41}"/>
              </a:ext>
            </a:extLst>
          </p:cNvPr>
          <p:cNvSpPr>
            <a:spLocks noGrp="1"/>
          </p:cNvSpPr>
          <p:nvPr>
            <p:ph type="title"/>
          </p:nvPr>
        </p:nvSpPr>
        <p:spPr/>
        <p:txBody>
          <a:bodyPr/>
          <a:lstStyle/>
          <a:p>
            <a:r>
              <a:rPr lang="ja-JP" altLang="en-US" dirty="0"/>
              <a:t>分析結果２（項目別延滞率グラフ）</a:t>
            </a:r>
            <a:endParaRPr kumimoji="1" lang="ja-JP" altLang="en-US" dirty="0"/>
          </a:p>
        </p:txBody>
      </p:sp>
      <p:pic>
        <p:nvPicPr>
          <p:cNvPr id="3076" name="Picture 4">
            <a:extLst>
              <a:ext uri="{FF2B5EF4-FFF2-40B4-BE49-F238E27FC236}">
                <a16:creationId xmlns:a16="http://schemas.microsoft.com/office/drawing/2014/main" id="{BB1E9318-5BCD-910A-A4AA-F8B2D1F3AB6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16935" y="1200061"/>
            <a:ext cx="4302781" cy="3098319"/>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a:extLst>
              <a:ext uri="{FF2B5EF4-FFF2-40B4-BE49-F238E27FC236}">
                <a16:creationId xmlns:a16="http://schemas.microsoft.com/office/drawing/2014/main" id="{D7E68ED9-DEA4-3091-625C-5B9881D5B1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0893" y="1270000"/>
            <a:ext cx="4302781" cy="3098319"/>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8A8E768C-C66C-29F6-4E32-884D43D3880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12253" y="4140232"/>
            <a:ext cx="3783970" cy="27177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84007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094C88B-B2D7-5DAD-1840-353658B1296E}"/>
              </a:ext>
            </a:extLst>
          </p:cNvPr>
          <p:cNvSpPr>
            <a:spLocks noGrp="1"/>
          </p:cNvSpPr>
          <p:nvPr>
            <p:ph type="title"/>
          </p:nvPr>
        </p:nvSpPr>
        <p:spPr/>
        <p:txBody>
          <a:bodyPr/>
          <a:lstStyle/>
          <a:p>
            <a:r>
              <a:rPr lang="ja-JP" altLang="en-US" dirty="0"/>
              <a:t>分析結果３（項目別延滞率グラフ）</a:t>
            </a:r>
            <a:endParaRPr kumimoji="1" lang="ja-JP" altLang="en-US" dirty="0"/>
          </a:p>
        </p:txBody>
      </p:sp>
      <p:pic>
        <p:nvPicPr>
          <p:cNvPr id="4098" name="Picture 2">
            <a:extLst>
              <a:ext uri="{FF2B5EF4-FFF2-40B4-BE49-F238E27FC236}">
                <a16:creationId xmlns:a16="http://schemas.microsoft.com/office/drawing/2014/main" id="{F3860AF3-3B63-7F25-7296-5636675ABBE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00823" y="1112173"/>
            <a:ext cx="4268889" cy="3073914"/>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F31F10D1-8ECE-5046-1B92-D32A4CBD14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26111" y="1112172"/>
            <a:ext cx="4268887" cy="3073913"/>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a:extLst>
              <a:ext uri="{FF2B5EF4-FFF2-40B4-BE49-F238E27FC236}">
                <a16:creationId xmlns:a16="http://schemas.microsoft.com/office/drawing/2014/main" id="{F60F8C80-9178-1E60-AF93-10FCE97CEC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7527" y="4015965"/>
            <a:ext cx="3956987" cy="28420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59104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885AE6E-298F-D14B-56F4-E231C161963C}"/>
              </a:ext>
            </a:extLst>
          </p:cNvPr>
          <p:cNvSpPr>
            <a:spLocks noGrp="1"/>
          </p:cNvSpPr>
          <p:nvPr>
            <p:ph type="title"/>
          </p:nvPr>
        </p:nvSpPr>
        <p:spPr/>
        <p:txBody>
          <a:bodyPr/>
          <a:lstStyle/>
          <a:p>
            <a:r>
              <a:rPr lang="ja-JP" altLang="en-US" dirty="0"/>
              <a:t>分析結果４（影響度ランキング）</a:t>
            </a:r>
            <a:endParaRPr kumimoji="1" lang="ja-JP" altLang="en-US" dirty="0"/>
          </a:p>
        </p:txBody>
      </p:sp>
      <p:graphicFrame>
        <p:nvGraphicFramePr>
          <p:cNvPr id="10" name="コンテンツ プレースホルダー 9">
            <a:extLst>
              <a:ext uri="{FF2B5EF4-FFF2-40B4-BE49-F238E27FC236}">
                <a16:creationId xmlns:a16="http://schemas.microsoft.com/office/drawing/2014/main" id="{10144EA8-ED1F-0CB8-10DC-2C536914B15C}"/>
              </a:ext>
            </a:extLst>
          </p:cNvPr>
          <p:cNvGraphicFramePr>
            <a:graphicFrameLocks noGrp="1"/>
          </p:cNvGraphicFramePr>
          <p:nvPr>
            <p:ph idx="1"/>
            <p:extLst>
              <p:ext uri="{D42A27DB-BD31-4B8C-83A1-F6EECF244321}">
                <p14:modId xmlns:p14="http://schemas.microsoft.com/office/powerpoint/2010/main" val="2930551869"/>
              </p:ext>
            </p:extLst>
          </p:nvPr>
        </p:nvGraphicFramePr>
        <p:xfrm>
          <a:off x="6613451" y="2166719"/>
          <a:ext cx="4412512" cy="3396427"/>
        </p:xfrm>
        <a:graphic>
          <a:graphicData uri="http://schemas.openxmlformats.org/drawingml/2006/table">
            <a:tbl>
              <a:tblPr firstRow="1">
                <a:tableStyleId>{69012ECD-51FC-41F1-AA8D-1B2483CD663E}</a:tableStyleId>
              </a:tblPr>
              <a:tblGrid>
                <a:gridCol w="1306504">
                  <a:extLst>
                    <a:ext uri="{9D8B030D-6E8A-4147-A177-3AD203B41FA5}">
                      <a16:colId xmlns:a16="http://schemas.microsoft.com/office/drawing/2014/main" val="1263618200"/>
                    </a:ext>
                  </a:extLst>
                </a:gridCol>
                <a:gridCol w="1498792">
                  <a:extLst>
                    <a:ext uri="{9D8B030D-6E8A-4147-A177-3AD203B41FA5}">
                      <a16:colId xmlns:a16="http://schemas.microsoft.com/office/drawing/2014/main" val="2701069944"/>
                    </a:ext>
                  </a:extLst>
                </a:gridCol>
                <a:gridCol w="1607216">
                  <a:extLst>
                    <a:ext uri="{9D8B030D-6E8A-4147-A177-3AD203B41FA5}">
                      <a16:colId xmlns:a16="http://schemas.microsoft.com/office/drawing/2014/main" val="1770243878"/>
                    </a:ext>
                  </a:extLst>
                </a:gridCol>
              </a:tblGrid>
              <a:tr h="295990">
                <a:tc>
                  <a:txBody>
                    <a:bodyPr/>
                    <a:lstStyle/>
                    <a:p>
                      <a:pPr algn="ctr" fontAlgn="t">
                        <a:buNone/>
                      </a:pPr>
                      <a:r>
                        <a:rPr lang="ja-JP" altLang="en-US" sz="1400" u="none" strike="noStrike" dirty="0">
                          <a:effectLst/>
                        </a:rPr>
                        <a:t>項目</a:t>
                      </a:r>
                      <a:endParaRPr lang="ja-JP" altLang="en-US" sz="1400" b="1" i="0" u="none" strike="noStrike" dirty="0">
                        <a:solidFill>
                          <a:srgbClr val="000000"/>
                        </a:solidFill>
                        <a:effectLst/>
                        <a:latin typeface="+mn-ea"/>
                        <a:ea typeface="+mn-ea"/>
                        <a:cs typeface="ADLaM Display" panose="020F0502020204030204" pitchFamily="2" charset="0"/>
                      </a:endParaRPr>
                    </a:p>
                  </a:txBody>
                  <a:tcPr marL="6350" marR="6350" marT="6350" marB="0"/>
                </a:tc>
                <a:tc>
                  <a:txBody>
                    <a:bodyPr/>
                    <a:lstStyle/>
                    <a:p>
                      <a:pPr algn="ctr" fontAlgn="t">
                        <a:buNone/>
                      </a:pPr>
                      <a:r>
                        <a:rPr lang="ja-JP" altLang="en-US" sz="1400" u="none" strike="noStrike" dirty="0">
                          <a:effectLst/>
                        </a:rPr>
                        <a:t>係数</a:t>
                      </a:r>
                      <a:endParaRPr lang="ja-JP" altLang="en-US" sz="1400" b="1" i="0" u="none" strike="noStrike" dirty="0">
                        <a:solidFill>
                          <a:srgbClr val="000000"/>
                        </a:solidFill>
                        <a:effectLst/>
                        <a:latin typeface="+mn-ea"/>
                        <a:ea typeface="+mn-ea"/>
                        <a:cs typeface="ADLaM Display" panose="020F0502020204030204" pitchFamily="2" charset="0"/>
                      </a:endParaRPr>
                    </a:p>
                  </a:txBody>
                  <a:tcPr marL="6350" marR="6350" marT="6350" marB="0"/>
                </a:tc>
                <a:tc>
                  <a:txBody>
                    <a:bodyPr/>
                    <a:lstStyle/>
                    <a:p>
                      <a:pPr algn="ctr" fontAlgn="t">
                        <a:buNone/>
                      </a:pPr>
                      <a:r>
                        <a:rPr lang="ja-JP" altLang="en-US" sz="1400" u="none" strike="noStrike" dirty="0">
                          <a:effectLst/>
                        </a:rPr>
                        <a:t>影響度</a:t>
                      </a:r>
                      <a:endParaRPr lang="ja-JP" altLang="en-US" sz="1400" b="1" i="0" u="none" strike="noStrike" dirty="0">
                        <a:solidFill>
                          <a:srgbClr val="000000"/>
                        </a:solidFill>
                        <a:effectLst/>
                        <a:latin typeface="+mn-ea"/>
                        <a:ea typeface="+mn-ea"/>
                        <a:cs typeface="ADLaM Display" panose="020F0502020204030204" pitchFamily="2" charset="0"/>
                      </a:endParaRPr>
                    </a:p>
                  </a:txBody>
                  <a:tcPr marL="6350" marR="6350" marT="6350" marB="0"/>
                </a:tc>
                <a:extLst>
                  <a:ext uri="{0D108BD9-81ED-4DB2-BD59-A6C34878D82A}">
                    <a16:rowId xmlns:a16="http://schemas.microsoft.com/office/drawing/2014/main" val="2549429124"/>
                  </a:ext>
                </a:extLst>
              </a:tr>
              <a:tr h="344493">
                <a:tc>
                  <a:txBody>
                    <a:bodyPr/>
                    <a:lstStyle/>
                    <a:p>
                      <a:pPr algn="l" fontAlgn="b">
                        <a:buNone/>
                      </a:pPr>
                      <a:r>
                        <a:rPr lang="ja-JP" altLang="en-US" sz="1400" b="0" u="none" strike="noStrike" dirty="0">
                          <a:solidFill>
                            <a:srgbClr val="000000"/>
                          </a:solidFill>
                          <a:effectLst/>
                        </a:rPr>
                        <a:t>他社延滞回数</a:t>
                      </a:r>
                      <a:endParaRPr lang="zh-CN" altLang="en-US" sz="1400" b="0" i="0" u="none" strike="noStrike" dirty="0">
                        <a:solidFill>
                          <a:srgbClr val="000000"/>
                        </a:solidFill>
                        <a:effectLst/>
                        <a:latin typeface="+mn-ea"/>
                        <a:ea typeface="+mn-ea"/>
                        <a:cs typeface="ADLaM Display" panose="020F0502020204030204" pitchFamily="2" charset="0"/>
                      </a:endParaRPr>
                    </a:p>
                  </a:txBody>
                  <a:tcPr marL="6350" marR="6350" marT="6350" marB="0" anchor="b"/>
                </a:tc>
                <a:tc>
                  <a:txBody>
                    <a:bodyPr/>
                    <a:lstStyle/>
                    <a:p>
                      <a:pPr algn="r" fontAlgn="b">
                        <a:buNone/>
                      </a:pPr>
                      <a:r>
                        <a:rPr lang="en-US" altLang="ja-JP" sz="1400" u="none" strike="noStrike">
                          <a:effectLst/>
                        </a:rPr>
                        <a:t>-0.159293559</a:t>
                      </a:r>
                      <a:endParaRPr lang="en-US" altLang="ja-JP" sz="1400" b="0" i="0" u="none" strike="noStrike">
                        <a:solidFill>
                          <a:srgbClr val="000000"/>
                        </a:solidFill>
                        <a:effectLst/>
                        <a:latin typeface="+mn-ea"/>
                        <a:ea typeface="+mn-ea"/>
                        <a:cs typeface="ADLaM Display" panose="020F0502020204030204" pitchFamily="2" charset="0"/>
                      </a:endParaRPr>
                    </a:p>
                  </a:txBody>
                  <a:tcPr marL="6350" marR="6350" marT="6350" marB="0" anchor="b"/>
                </a:tc>
                <a:tc>
                  <a:txBody>
                    <a:bodyPr/>
                    <a:lstStyle/>
                    <a:p>
                      <a:pPr algn="r" fontAlgn="b">
                        <a:buNone/>
                      </a:pPr>
                      <a:r>
                        <a:rPr lang="en-US" altLang="ja-JP" sz="1400" u="none" strike="noStrike" dirty="0">
                          <a:effectLst/>
                        </a:rPr>
                        <a:t>0.159293559</a:t>
                      </a:r>
                      <a:endParaRPr lang="en-US" altLang="ja-JP" sz="1400" b="0" i="0" u="none" strike="noStrike" dirty="0">
                        <a:solidFill>
                          <a:srgbClr val="000000"/>
                        </a:solidFill>
                        <a:effectLst/>
                        <a:latin typeface="+mn-ea"/>
                        <a:ea typeface="+mn-ea"/>
                        <a:cs typeface="ADLaM Display" panose="020F0502020204030204" pitchFamily="2" charset="0"/>
                      </a:endParaRPr>
                    </a:p>
                  </a:txBody>
                  <a:tcPr marL="6350" marR="6350" marT="6350" marB="0" anchor="b">
                    <a:solidFill>
                      <a:schemeClr val="bg1"/>
                    </a:solidFill>
                  </a:tcPr>
                </a:tc>
                <a:extLst>
                  <a:ext uri="{0D108BD9-81ED-4DB2-BD59-A6C34878D82A}">
                    <a16:rowId xmlns:a16="http://schemas.microsoft.com/office/drawing/2014/main" val="883605520"/>
                  </a:ext>
                </a:extLst>
              </a:tr>
              <a:tr h="344493">
                <a:tc>
                  <a:txBody>
                    <a:bodyPr/>
                    <a:lstStyle/>
                    <a:p>
                      <a:pPr algn="l" fontAlgn="b">
                        <a:buNone/>
                      </a:pPr>
                      <a:r>
                        <a:rPr lang="ja-JP" altLang="en-US" sz="1400" b="0" u="none" strike="noStrike" dirty="0">
                          <a:solidFill>
                            <a:srgbClr val="000000"/>
                          </a:solidFill>
                          <a:effectLst/>
                        </a:rPr>
                        <a:t>自社延滞回数</a:t>
                      </a:r>
                      <a:endParaRPr lang="zh-CN" altLang="en-US" sz="1400" b="0" i="0" u="none" strike="noStrike" dirty="0">
                        <a:solidFill>
                          <a:srgbClr val="000000"/>
                        </a:solidFill>
                        <a:effectLst/>
                        <a:latin typeface="+mn-ea"/>
                        <a:ea typeface="+mn-ea"/>
                        <a:cs typeface="ADLaM Display" panose="020F0502020204030204" pitchFamily="2" charset="0"/>
                      </a:endParaRPr>
                    </a:p>
                  </a:txBody>
                  <a:tcPr marL="6350" marR="6350" marT="6350" marB="0" anchor="b"/>
                </a:tc>
                <a:tc>
                  <a:txBody>
                    <a:bodyPr/>
                    <a:lstStyle/>
                    <a:p>
                      <a:pPr algn="r" fontAlgn="b">
                        <a:buNone/>
                      </a:pPr>
                      <a:r>
                        <a:rPr lang="en-US" altLang="ja-JP" sz="1400" u="none" strike="noStrike" dirty="0">
                          <a:effectLst/>
                        </a:rPr>
                        <a:t>-0.151428571</a:t>
                      </a:r>
                      <a:endParaRPr lang="en-US" altLang="ja-JP" sz="1400" b="0" i="0" u="none" strike="noStrike" dirty="0">
                        <a:solidFill>
                          <a:srgbClr val="000000"/>
                        </a:solidFill>
                        <a:effectLst/>
                        <a:latin typeface="+mn-ea"/>
                        <a:ea typeface="+mn-ea"/>
                        <a:cs typeface="ADLaM Display" panose="020F0502020204030204" pitchFamily="2" charset="0"/>
                      </a:endParaRPr>
                    </a:p>
                  </a:txBody>
                  <a:tcPr marL="6350" marR="6350" marT="6350" marB="0" anchor="b"/>
                </a:tc>
                <a:tc>
                  <a:txBody>
                    <a:bodyPr/>
                    <a:lstStyle/>
                    <a:p>
                      <a:pPr algn="r" fontAlgn="b">
                        <a:buNone/>
                      </a:pPr>
                      <a:r>
                        <a:rPr lang="en-US" altLang="ja-JP" sz="1400" u="none" strike="noStrike" dirty="0">
                          <a:effectLst/>
                        </a:rPr>
                        <a:t>0.151428571</a:t>
                      </a:r>
                      <a:endParaRPr lang="en-US" altLang="ja-JP" sz="1400" b="0" i="0" u="none" strike="noStrike" dirty="0">
                        <a:solidFill>
                          <a:srgbClr val="000000"/>
                        </a:solidFill>
                        <a:effectLst/>
                        <a:latin typeface="+mn-ea"/>
                        <a:ea typeface="+mn-ea"/>
                        <a:cs typeface="ADLaM Display" panose="020F0502020204030204" pitchFamily="2" charset="0"/>
                      </a:endParaRPr>
                    </a:p>
                  </a:txBody>
                  <a:tcPr marL="6350" marR="6350" marT="6350" marB="0" anchor="b">
                    <a:solidFill>
                      <a:schemeClr val="bg1"/>
                    </a:solidFill>
                  </a:tcPr>
                </a:tc>
                <a:extLst>
                  <a:ext uri="{0D108BD9-81ED-4DB2-BD59-A6C34878D82A}">
                    <a16:rowId xmlns:a16="http://schemas.microsoft.com/office/drawing/2014/main" val="3430238427"/>
                  </a:ext>
                </a:extLst>
              </a:tr>
              <a:tr h="344493">
                <a:tc>
                  <a:txBody>
                    <a:bodyPr/>
                    <a:lstStyle/>
                    <a:p>
                      <a:pPr algn="l" fontAlgn="b">
                        <a:buNone/>
                      </a:pPr>
                      <a:r>
                        <a:rPr lang="ja-JP" altLang="en-US" sz="1400" u="none" strike="noStrike" dirty="0">
                          <a:effectLst/>
                        </a:rPr>
                        <a:t>年齢</a:t>
                      </a:r>
                      <a:endParaRPr lang="ja-JP" altLang="en-US" sz="1400" b="0" i="0" u="none" strike="noStrike" dirty="0">
                        <a:solidFill>
                          <a:srgbClr val="000000"/>
                        </a:solidFill>
                        <a:effectLst/>
                        <a:latin typeface="+mn-ea"/>
                        <a:ea typeface="+mn-ea"/>
                        <a:cs typeface="ADLaM Display" panose="020F0502020204030204" pitchFamily="2" charset="0"/>
                      </a:endParaRPr>
                    </a:p>
                  </a:txBody>
                  <a:tcPr marL="6350" marR="6350" marT="6350" marB="0" anchor="b"/>
                </a:tc>
                <a:tc>
                  <a:txBody>
                    <a:bodyPr/>
                    <a:lstStyle/>
                    <a:p>
                      <a:pPr algn="r" fontAlgn="b">
                        <a:buNone/>
                      </a:pPr>
                      <a:r>
                        <a:rPr lang="en-US" altLang="ja-JP" sz="1400" u="none" strike="noStrike" dirty="0">
                          <a:effectLst/>
                        </a:rPr>
                        <a:t>-0.031462895</a:t>
                      </a:r>
                      <a:endParaRPr lang="en-US" altLang="ja-JP" sz="1400" b="0" i="0" u="none" strike="noStrike" dirty="0">
                        <a:solidFill>
                          <a:srgbClr val="000000"/>
                        </a:solidFill>
                        <a:effectLst/>
                        <a:latin typeface="+mn-ea"/>
                        <a:ea typeface="+mn-ea"/>
                        <a:cs typeface="ADLaM Display" panose="020F0502020204030204" pitchFamily="2" charset="0"/>
                      </a:endParaRPr>
                    </a:p>
                  </a:txBody>
                  <a:tcPr marL="6350" marR="6350" marT="6350" marB="0" anchor="b"/>
                </a:tc>
                <a:tc>
                  <a:txBody>
                    <a:bodyPr/>
                    <a:lstStyle/>
                    <a:p>
                      <a:pPr algn="r" fontAlgn="b">
                        <a:buNone/>
                      </a:pPr>
                      <a:r>
                        <a:rPr lang="en-US" altLang="ja-JP" sz="1400" u="none" strike="noStrike" dirty="0">
                          <a:effectLst/>
                        </a:rPr>
                        <a:t>0.031462895</a:t>
                      </a:r>
                      <a:endParaRPr lang="en-US" altLang="ja-JP" sz="1400" b="0" i="0" u="none" strike="noStrike" dirty="0">
                        <a:solidFill>
                          <a:srgbClr val="000000"/>
                        </a:solidFill>
                        <a:effectLst/>
                        <a:latin typeface="+mn-ea"/>
                        <a:ea typeface="+mn-ea"/>
                        <a:cs typeface="ADLaM Display" panose="020F0502020204030204" pitchFamily="2" charset="0"/>
                      </a:endParaRPr>
                    </a:p>
                  </a:txBody>
                  <a:tcPr marL="6350" marR="6350" marT="6350" marB="0" anchor="b">
                    <a:solidFill>
                      <a:schemeClr val="bg1"/>
                    </a:solidFill>
                  </a:tcPr>
                </a:tc>
                <a:extLst>
                  <a:ext uri="{0D108BD9-81ED-4DB2-BD59-A6C34878D82A}">
                    <a16:rowId xmlns:a16="http://schemas.microsoft.com/office/drawing/2014/main" val="2700615253"/>
                  </a:ext>
                </a:extLst>
              </a:tr>
              <a:tr h="344493">
                <a:tc>
                  <a:txBody>
                    <a:bodyPr/>
                    <a:lstStyle/>
                    <a:p>
                      <a:pPr algn="l" fontAlgn="b">
                        <a:buNone/>
                      </a:pPr>
                      <a:r>
                        <a:rPr lang="ja-JP" altLang="en-US" sz="1400" u="none" strike="noStrike">
                          <a:effectLst/>
                        </a:rPr>
                        <a:t>自社延滞金額</a:t>
                      </a:r>
                      <a:endParaRPr lang="ja-JP" altLang="en-US" sz="1400" b="0" i="0" u="none" strike="noStrike">
                        <a:solidFill>
                          <a:srgbClr val="000000"/>
                        </a:solidFill>
                        <a:effectLst/>
                        <a:latin typeface="+mn-ea"/>
                        <a:ea typeface="+mn-ea"/>
                        <a:cs typeface="ADLaM Display" panose="020F0502020204030204" pitchFamily="2" charset="0"/>
                      </a:endParaRPr>
                    </a:p>
                  </a:txBody>
                  <a:tcPr marL="6350" marR="6350" marT="6350" marB="0" anchor="b"/>
                </a:tc>
                <a:tc>
                  <a:txBody>
                    <a:bodyPr/>
                    <a:lstStyle/>
                    <a:p>
                      <a:pPr algn="r" fontAlgn="b">
                        <a:buNone/>
                      </a:pPr>
                      <a:r>
                        <a:rPr lang="en-US" altLang="ja-JP" sz="1400" u="none" strike="noStrike" dirty="0">
                          <a:effectLst/>
                        </a:rPr>
                        <a:t>0.021863433</a:t>
                      </a:r>
                      <a:endParaRPr lang="en-US" altLang="ja-JP" sz="1400" b="0" i="0" u="none" strike="noStrike" dirty="0">
                        <a:solidFill>
                          <a:srgbClr val="000000"/>
                        </a:solidFill>
                        <a:effectLst/>
                        <a:latin typeface="+mn-ea"/>
                        <a:ea typeface="+mn-ea"/>
                        <a:cs typeface="ADLaM Display" panose="020F0502020204030204" pitchFamily="2" charset="0"/>
                      </a:endParaRPr>
                    </a:p>
                  </a:txBody>
                  <a:tcPr marL="6350" marR="6350" marT="6350" marB="0" anchor="b"/>
                </a:tc>
                <a:tc>
                  <a:txBody>
                    <a:bodyPr/>
                    <a:lstStyle/>
                    <a:p>
                      <a:pPr algn="r" fontAlgn="b">
                        <a:buNone/>
                      </a:pPr>
                      <a:r>
                        <a:rPr lang="en-US" altLang="ja-JP" sz="1400" u="none" strike="noStrike" dirty="0">
                          <a:effectLst/>
                        </a:rPr>
                        <a:t>0.021863433</a:t>
                      </a:r>
                      <a:endParaRPr lang="en-US" altLang="ja-JP" sz="1400" b="0" i="0" u="none" strike="noStrike" dirty="0">
                        <a:solidFill>
                          <a:srgbClr val="000000"/>
                        </a:solidFill>
                        <a:effectLst/>
                        <a:latin typeface="+mn-ea"/>
                        <a:ea typeface="+mn-ea"/>
                        <a:cs typeface="ADLaM Display" panose="020F0502020204030204" pitchFamily="2" charset="0"/>
                      </a:endParaRPr>
                    </a:p>
                  </a:txBody>
                  <a:tcPr marL="6350" marR="6350" marT="6350" marB="0" anchor="b">
                    <a:solidFill>
                      <a:schemeClr val="bg1"/>
                    </a:solidFill>
                  </a:tcPr>
                </a:tc>
                <a:extLst>
                  <a:ext uri="{0D108BD9-81ED-4DB2-BD59-A6C34878D82A}">
                    <a16:rowId xmlns:a16="http://schemas.microsoft.com/office/drawing/2014/main" val="1308822725"/>
                  </a:ext>
                </a:extLst>
              </a:tr>
              <a:tr h="344493">
                <a:tc>
                  <a:txBody>
                    <a:bodyPr/>
                    <a:lstStyle/>
                    <a:p>
                      <a:pPr algn="l" fontAlgn="b">
                        <a:buNone/>
                      </a:pPr>
                      <a:r>
                        <a:rPr lang="zh-TW" altLang="en-US" sz="1400" u="none" strike="noStrike">
                          <a:effectLst/>
                        </a:rPr>
                        <a:t>自社借入金額</a:t>
                      </a:r>
                      <a:endParaRPr lang="zh-TW" altLang="en-US" sz="1400" b="0" i="0" u="none" strike="noStrike">
                        <a:solidFill>
                          <a:srgbClr val="000000"/>
                        </a:solidFill>
                        <a:effectLst/>
                        <a:latin typeface="+mn-ea"/>
                        <a:ea typeface="+mn-ea"/>
                        <a:cs typeface="ADLaM Display" panose="020F0502020204030204" pitchFamily="2" charset="0"/>
                      </a:endParaRPr>
                    </a:p>
                  </a:txBody>
                  <a:tcPr marL="6350" marR="6350" marT="6350" marB="0" anchor="b"/>
                </a:tc>
                <a:tc>
                  <a:txBody>
                    <a:bodyPr/>
                    <a:lstStyle/>
                    <a:p>
                      <a:pPr algn="r" fontAlgn="b">
                        <a:buNone/>
                      </a:pPr>
                      <a:r>
                        <a:rPr lang="en-US" altLang="ja-JP" sz="1400" u="none" strike="noStrike" dirty="0">
                          <a:effectLst/>
                        </a:rPr>
                        <a:t>0.017636568</a:t>
                      </a:r>
                      <a:endParaRPr lang="en-US" altLang="ja-JP" sz="1400" b="0" i="0" u="none" strike="noStrike" dirty="0">
                        <a:solidFill>
                          <a:srgbClr val="000000"/>
                        </a:solidFill>
                        <a:effectLst/>
                        <a:latin typeface="+mn-ea"/>
                        <a:ea typeface="+mn-ea"/>
                        <a:cs typeface="ADLaM Display" panose="020F0502020204030204" pitchFamily="2" charset="0"/>
                      </a:endParaRPr>
                    </a:p>
                  </a:txBody>
                  <a:tcPr marL="6350" marR="6350" marT="6350" marB="0" anchor="b"/>
                </a:tc>
                <a:tc>
                  <a:txBody>
                    <a:bodyPr/>
                    <a:lstStyle/>
                    <a:p>
                      <a:pPr algn="r" fontAlgn="b">
                        <a:buNone/>
                      </a:pPr>
                      <a:r>
                        <a:rPr lang="en-US" altLang="ja-JP" sz="1400" u="none" strike="noStrike" dirty="0">
                          <a:effectLst/>
                        </a:rPr>
                        <a:t>0.017636568</a:t>
                      </a:r>
                      <a:endParaRPr lang="en-US" altLang="ja-JP" sz="1400" b="0" i="0" u="none" strike="noStrike" dirty="0">
                        <a:solidFill>
                          <a:srgbClr val="000000"/>
                        </a:solidFill>
                        <a:effectLst/>
                        <a:latin typeface="+mn-ea"/>
                        <a:ea typeface="+mn-ea"/>
                        <a:cs typeface="ADLaM Display" panose="020F0502020204030204" pitchFamily="2" charset="0"/>
                      </a:endParaRPr>
                    </a:p>
                  </a:txBody>
                  <a:tcPr marL="6350" marR="6350" marT="6350" marB="0" anchor="b">
                    <a:solidFill>
                      <a:schemeClr val="bg1"/>
                    </a:solidFill>
                  </a:tcPr>
                </a:tc>
                <a:extLst>
                  <a:ext uri="{0D108BD9-81ED-4DB2-BD59-A6C34878D82A}">
                    <a16:rowId xmlns:a16="http://schemas.microsoft.com/office/drawing/2014/main" val="2874855576"/>
                  </a:ext>
                </a:extLst>
              </a:tr>
              <a:tr h="344493">
                <a:tc>
                  <a:txBody>
                    <a:bodyPr/>
                    <a:lstStyle/>
                    <a:p>
                      <a:pPr algn="l" fontAlgn="b">
                        <a:buNone/>
                      </a:pPr>
                      <a:r>
                        <a:rPr lang="ja-JP" altLang="en-US" sz="1400" u="none" strike="noStrike">
                          <a:effectLst/>
                        </a:rPr>
                        <a:t>他社延滞金額</a:t>
                      </a:r>
                      <a:endParaRPr lang="ja-JP" altLang="en-US" sz="1400" b="0" i="0" u="none" strike="noStrike">
                        <a:solidFill>
                          <a:srgbClr val="000000"/>
                        </a:solidFill>
                        <a:effectLst/>
                        <a:latin typeface="+mn-ea"/>
                        <a:ea typeface="+mn-ea"/>
                        <a:cs typeface="ADLaM Display" panose="020F0502020204030204" pitchFamily="2" charset="0"/>
                      </a:endParaRPr>
                    </a:p>
                  </a:txBody>
                  <a:tcPr marL="6350" marR="6350" marT="6350" marB="0" anchor="b"/>
                </a:tc>
                <a:tc>
                  <a:txBody>
                    <a:bodyPr/>
                    <a:lstStyle/>
                    <a:p>
                      <a:pPr algn="r" fontAlgn="b">
                        <a:buNone/>
                      </a:pPr>
                      <a:r>
                        <a:rPr lang="en-US" altLang="ja-JP" sz="1400" u="none" strike="noStrike">
                          <a:effectLst/>
                        </a:rPr>
                        <a:t>0.015839689</a:t>
                      </a:r>
                      <a:endParaRPr lang="en-US" altLang="ja-JP" sz="1400" b="0" i="0" u="none" strike="noStrike">
                        <a:solidFill>
                          <a:srgbClr val="000000"/>
                        </a:solidFill>
                        <a:effectLst/>
                        <a:latin typeface="+mn-ea"/>
                        <a:ea typeface="+mn-ea"/>
                        <a:cs typeface="ADLaM Display" panose="020F0502020204030204" pitchFamily="2" charset="0"/>
                      </a:endParaRPr>
                    </a:p>
                  </a:txBody>
                  <a:tcPr marL="6350" marR="6350" marT="6350" marB="0" anchor="b"/>
                </a:tc>
                <a:tc>
                  <a:txBody>
                    <a:bodyPr/>
                    <a:lstStyle/>
                    <a:p>
                      <a:pPr algn="r" fontAlgn="b">
                        <a:buNone/>
                      </a:pPr>
                      <a:r>
                        <a:rPr lang="en-US" altLang="ja-JP" sz="1400" u="none" strike="noStrike" dirty="0">
                          <a:effectLst/>
                        </a:rPr>
                        <a:t>0.015839689</a:t>
                      </a:r>
                      <a:endParaRPr lang="en-US" altLang="ja-JP" sz="1400" b="0" i="0" u="none" strike="noStrike" dirty="0">
                        <a:solidFill>
                          <a:srgbClr val="000000"/>
                        </a:solidFill>
                        <a:effectLst/>
                        <a:latin typeface="+mn-ea"/>
                        <a:ea typeface="+mn-ea"/>
                        <a:cs typeface="ADLaM Display" panose="020F0502020204030204" pitchFamily="2" charset="0"/>
                      </a:endParaRPr>
                    </a:p>
                  </a:txBody>
                  <a:tcPr marL="6350" marR="6350" marT="6350" marB="0" anchor="b">
                    <a:solidFill>
                      <a:schemeClr val="bg1"/>
                    </a:solidFill>
                  </a:tcPr>
                </a:tc>
                <a:extLst>
                  <a:ext uri="{0D108BD9-81ED-4DB2-BD59-A6C34878D82A}">
                    <a16:rowId xmlns:a16="http://schemas.microsoft.com/office/drawing/2014/main" val="2197245874"/>
                  </a:ext>
                </a:extLst>
              </a:tr>
              <a:tr h="344493">
                <a:tc>
                  <a:txBody>
                    <a:bodyPr/>
                    <a:lstStyle/>
                    <a:p>
                      <a:pPr algn="l" fontAlgn="b">
                        <a:buNone/>
                      </a:pPr>
                      <a:r>
                        <a:rPr lang="zh-TW" altLang="en-US" sz="1400" u="none" strike="noStrike">
                          <a:effectLst/>
                        </a:rPr>
                        <a:t>他社借入金額</a:t>
                      </a:r>
                      <a:endParaRPr lang="zh-TW" altLang="en-US" sz="1400" b="0" i="0" u="none" strike="noStrike">
                        <a:solidFill>
                          <a:srgbClr val="000000"/>
                        </a:solidFill>
                        <a:effectLst/>
                        <a:latin typeface="+mn-ea"/>
                        <a:ea typeface="+mn-ea"/>
                        <a:cs typeface="ADLaM Display" panose="020F0502020204030204" pitchFamily="2" charset="0"/>
                      </a:endParaRPr>
                    </a:p>
                  </a:txBody>
                  <a:tcPr marL="6350" marR="6350" marT="6350" marB="0" anchor="b"/>
                </a:tc>
                <a:tc>
                  <a:txBody>
                    <a:bodyPr/>
                    <a:lstStyle/>
                    <a:p>
                      <a:pPr algn="r" fontAlgn="b">
                        <a:buNone/>
                      </a:pPr>
                      <a:r>
                        <a:rPr lang="en-US" altLang="ja-JP" sz="1400" u="none" strike="noStrike">
                          <a:effectLst/>
                        </a:rPr>
                        <a:t>0.013017146</a:t>
                      </a:r>
                      <a:endParaRPr lang="en-US" altLang="ja-JP" sz="1400" b="0" i="0" u="none" strike="noStrike">
                        <a:solidFill>
                          <a:srgbClr val="000000"/>
                        </a:solidFill>
                        <a:effectLst/>
                        <a:latin typeface="+mn-ea"/>
                        <a:ea typeface="+mn-ea"/>
                        <a:cs typeface="ADLaM Display" panose="020F0502020204030204" pitchFamily="2" charset="0"/>
                      </a:endParaRPr>
                    </a:p>
                  </a:txBody>
                  <a:tcPr marL="6350" marR="6350" marT="6350" marB="0" anchor="b"/>
                </a:tc>
                <a:tc>
                  <a:txBody>
                    <a:bodyPr/>
                    <a:lstStyle/>
                    <a:p>
                      <a:pPr algn="r" fontAlgn="b">
                        <a:buNone/>
                      </a:pPr>
                      <a:r>
                        <a:rPr lang="en-US" altLang="ja-JP" sz="1400" u="none" strike="noStrike" dirty="0">
                          <a:effectLst/>
                        </a:rPr>
                        <a:t>0.013017146</a:t>
                      </a:r>
                      <a:endParaRPr lang="en-US" altLang="ja-JP" sz="1400" b="0" i="0" u="none" strike="noStrike" dirty="0">
                        <a:solidFill>
                          <a:srgbClr val="000000"/>
                        </a:solidFill>
                        <a:effectLst/>
                        <a:latin typeface="+mn-ea"/>
                        <a:ea typeface="+mn-ea"/>
                        <a:cs typeface="ADLaM Display" panose="020F0502020204030204" pitchFamily="2" charset="0"/>
                      </a:endParaRPr>
                    </a:p>
                  </a:txBody>
                  <a:tcPr marL="6350" marR="6350" marT="6350" marB="0" anchor="b">
                    <a:solidFill>
                      <a:schemeClr val="bg1"/>
                    </a:solidFill>
                  </a:tcPr>
                </a:tc>
                <a:extLst>
                  <a:ext uri="{0D108BD9-81ED-4DB2-BD59-A6C34878D82A}">
                    <a16:rowId xmlns:a16="http://schemas.microsoft.com/office/drawing/2014/main" val="3160987596"/>
                  </a:ext>
                </a:extLst>
              </a:tr>
              <a:tr h="344493">
                <a:tc>
                  <a:txBody>
                    <a:bodyPr/>
                    <a:lstStyle/>
                    <a:p>
                      <a:pPr algn="l" fontAlgn="b">
                        <a:buNone/>
                      </a:pPr>
                      <a:r>
                        <a:rPr lang="ja-JP" altLang="en-US" sz="1400" u="none" strike="noStrike">
                          <a:effectLst/>
                        </a:rPr>
                        <a:t>勤続年数</a:t>
                      </a:r>
                      <a:endParaRPr lang="ja-JP" altLang="en-US" sz="1400" b="0" i="0" u="none" strike="noStrike">
                        <a:solidFill>
                          <a:srgbClr val="000000"/>
                        </a:solidFill>
                        <a:effectLst/>
                        <a:latin typeface="+mn-ea"/>
                        <a:ea typeface="+mn-ea"/>
                        <a:cs typeface="ADLaM Display" panose="020F0502020204030204" pitchFamily="2" charset="0"/>
                      </a:endParaRPr>
                    </a:p>
                  </a:txBody>
                  <a:tcPr marL="6350" marR="6350" marT="6350" marB="0" anchor="b"/>
                </a:tc>
                <a:tc>
                  <a:txBody>
                    <a:bodyPr/>
                    <a:lstStyle/>
                    <a:p>
                      <a:pPr algn="r" fontAlgn="b">
                        <a:buNone/>
                      </a:pPr>
                      <a:r>
                        <a:rPr lang="en-US" altLang="ja-JP" sz="1400" u="none" strike="noStrike">
                          <a:effectLst/>
                        </a:rPr>
                        <a:t>0.006011112</a:t>
                      </a:r>
                      <a:endParaRPr lang="en-US" altLang="ja-JP" sz="1400" b="0" i="0" u="none" strike="noStrike">
                        <a:solidFill>
                          <a:srgbClr val="000000"/>
                        </a:solidFill>
                        <a:effectLst/>
                        <a:latin typeface="+mn-ea"/>
                        <a:ea typeface="+mn-ea"/>
                        <a:cs typeface="ADLaM Display" panose="020F0502020204030204" pitchFamily="2" charset="0"/>
                      </a:endParaRPr>
                    </a:p>
                  </a:txBody>
                  <a:tcPr marL="6350" marR="6350" marT="6350" marB="0" anchor="b"/>
                </a:tc>
                <a:tc>
                  <a:txBody>
                    <a:bodyPr/>
                    <a:lstStyle/>
                    <a:p>
                      <a:pPr algn="r" fontAlgn="b">
                        <a:buNone/>
                      </a:pPr>
                      <a:r>
                        <a:rPr lang="en-US" altLang="ja-JP" sz="1400" u="none" strike="noStrike" dirty="0">
                          <a:effectLst/>
                        </a:rPr>
                        <a:t>0.006011112</a:t>
                      </a:r>
                      <a:endParaRPr lang="en-US" altLang="ja-JP" sz="1400" b="0" i="0" u="none" strike="noStrike" dirty="0">
                        <a:solidFill>
                          <a:srgbClr val="000000"/>
                        </a:solidFill>
                        <a:effectLst/>
                        <a:latin typeface="+mn-ea"/>
                        <a:ea typeface="+mn-ea"/>
                        <a:cs typeface="ADLaM Display" panose="020F0502020204030204" pitchFamily="2" charset="0"/>
                      </a:endParaRPr>
                    </a:p>
                  </a:txBody>
                  <a:tcPr marL="6350" marR="6350" marT="6350" marB="0" anchor="b">
                    <a:solidFill>
                      <a:schemeClr val="bg1"/>
                    </a:solidFill>
                  </a:tcPr>
                </a:tc>
                <a:extLst>
                  <a:ext uri="{0D108BD9-81ED-4DB2-BD59-A6C34878D82A}">
                    <a16:rowId xmlns:a16="http://schemas.microsoft.com/office/drawing/2014/main" val="2388116556"/>
                  </a:ext>
                </a:extLst>
              </a:tr>
              <a:tr h="344493">
                <a:tc>
                  <a:txBody>
                    <a:bodyPr/>
                    <a:lstStyle/>
                    <a:p>
                      <a:pPr algn="l" fontAlgn="b">
                        <a:buNone/>
                      </a:pPr>
                      <a:r>
                        <a:rPr lang="ja-JP" altLang="en-US" sz="1400" u="none" strike="noStrike">
                          <a:effectLst/>
                        </a:rPr>
                        <a:t>年収</a:t>
                      </a:r>
                      <a:endParaRPr lang="ja-JP" altLang="en-US" sz="1400" b="0" i="0" u="none" strike="noStrike">
                        <a:solidFill>
                          <a:srgbClr val="000000"/>
                        </a:solidFill>
                        <a:effectLst/>
                        <a:latin typeface="+mn-ea"/>
                        <a:ea typeface="+mn-ea"/>
                        <a:cs typeface="ADLaM Display" panose="020F0502020204030204" pitchFamily="2" charset="0"/>
                      </a:endParaRPr>
                    </a:p>
                  </a:txBody>
                  <a:tcPr marL="6350" marR="6350" marT="6350" marB="0" anchor="b"/>
                </a:tc>
                <a:tc>
                  <a:txBody>
                    <a:bodyPr/>
                    <a:lstStyle/>
                    <a:p>
                      <a:pPr algn="r" fontAlgn="b">
                        <a:buNone/>
                      </a:pPr>
                      <a:r>
                        <a:rPr lang="en-US" altLang="ja-JP" sz="1400" u="none" strike="noStrike" dirty="0">
                          <a:effectLst/>
                        </a:rPr>
                        <a:t>0.000498235</a:t>
                      </a:r>
                      <a:endParaRPr lang="en-US" altLang="ja-JP" sz="1400" b="0" i="0" u="none" strike="noStrike" dirty="0">
                        <a:solidFill>
                          <a:srgbClr val="000000"/>
                        </a:solidFill>
                        <a:effectLst/>
                        <a:latin typeface="+mn-ea"/>
                        <a:ea typeface="+mn-ea"/>
                        <a:cs typeface="ADLaM Display" panose="020F0502020204030204" pitchFamily="2" charset="0"/>
                      </a:endParaRPr>
                    </a:p>
                  </a:txBody>
                  <a:tcPr marL="6350" marR="6350" marT="6350" marB="0" anchor="b"/>
                </a:tc>
                <a:tc>
                  <a:txBody>
                    <a:bodyPr/>
                    <a:lstStyle/>
                    <a:p>
                      <a:pPr algn="r" fontAlgn="b">
                        <a:buNone/>
                      </a:pPr>
                      <a:r>
                        <a:rPr lang="en-US" altLang="ja-JP" sz="1400" u="none" strike="noStrike" dirty="0">
                          <a:effectLst/>
                        </a:rPr>
                        <a:t>0.000498235</a:t>
                      </a:r>
                      <a:endParaRPr lang="en-US" altLang="ja-JP" sz="1400" b="0" i="0" u="none" strike="noStrike" dirty="0">
                        <a:solidFill>
                          <a:srgbClr val="000000"/>
                        </a:solidFill>
                        <a:effectLst/>
                        <a:latin typeface="+mn-ea"/>
                        <a:ea typeface="+mn-ea"/>
                        <a:cs typeface="ADLaM Display" panose="020F0502020204030204" pitchFamily="2" charset="0"/>
                      </a:endParaRPr>
                    </a:p>
                  </a:txBody>
                  <a:tcPr marL="6350" marR="6350" marT="6350" marB="0" anchor="b">
                    <a:solidFill>
                      <a:schemeClr val="bg1"/>
                    </a:solidFill>
                  </a:tcPr>
                </a:tc>
                <a:extLst>
                  <a:ext uri="{0D108BD9-81ED-4DB2-BD59-A6C34878D82A}">
                    <a16:rowId xmlns:a16="http://schemas.microsoft.com/office/drawing/2014/main" val="3942544673"/>
                  </a:ext>
                </a:extLst>
              </a:tr>
            </a:tbl>
          </a:graphicData>
        </a:graphic>
      </p:graphicFrame>
      <p:pic>
        <p:nvPicPr>
          <p:cNvPr id="5128" name="Picture 8">
            <a:extLst>
              <a:ext uri="{FF2B5EF4-FFF2-40B4-BE49-F238E27FC236}">
                <a16:creationId xmlns:a16="http://schemas.microsoft.com/office/drawing/2014/main" id="{97D43C72-C0EA-EB3D-9AC8-D811B2AF7D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669" y="1844750"/>
            <a:ext cx="6158719" cy="40403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76423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789609-C889-B3EE-DDEE-01D185B22EC1}"/>
              </a:ext>
            </a:extLst>
          </p:cNvPr>
          <p:cNvSpPr>
            <a:spLocks noGrp="1"/>
          </p:cNvSpPr>
          <p:nvPr>
            <p:ph type="title"/>
          </p:nvPr>
        </p:nvSpPr>
        <p:spPr/>
        <p:txBody>
          <a:bodyPr/>
          <a:lstStyle/>
          <a:p>
            <a:r>
              <a:rPr kumimoji="1" lang="ja-JP" altLang="en-US" dirty="0"/>
              <a:t>考察・まとめ</a:t>
            </a:r>
          </a:p>
        </p:txBody>
      </p:sp>
      <p:sp>
        <p:nvSpPr>
          <p:cNvPr id="3" name="コンテンツ プレースホルダー 2">
            <a:extLst>
              <a:ext uri="{FF2B5EF4-FFF2-40B4-BE49-F238E27FC236}">
                <a16:creationId xmlns:a16="http://schemas.microsoft.com/office/drawing/2014/main" id="{12DE9F42-7565-6A7F-AE9B-32C056D2525D}"/>
              </a:ext>
            </a:extLst>
          </p:cNvPr>
          <p:cNvSpPr>
            <a:spLocks noGrp="1"/>
          </p:cNvSpPr>
          <p:nvPr>
            <p:ph idx="1"/>
          </p:nvPr>
        </p:nvSpPr>
        <p:spPr/>
        <p:txBody>
          <a:bodyPr/>
          <a:lstStyle/>
          <a:p>
            <a:pPr marL="0" indent="0">
              <a:buNone/>
            </a:pPr>
            <a:r>
              <a:rPr kumimoji="1" lang="ja-JP" altLang="en-US" dirty="0"/>
              <a:t>今回は実データではなく、仮想データでの分析となりました。</a:t>
            </a:r>
            <a:endParaRPr kumimoji="1" lang="en-US" altLang="ja-JP" dirty="0"/>
          </a:p>
          <a:p>
            <a:pPr marL="0" indent="0">
              <a:buNone/>
            </a:pPr>
            <a:r>
              <a:rPr lang="ja-JP" altLang="en-US" dirty="0"/>
              <a:t>結果として出ている内容は、事前に設定した仮想データの内容と基本的に一致しており、精度の高いモデルを作成できたと考えられます。</a:t>
            </a:r>
            <a:endParaRPr lang="en-US" altLang="ja-JP" dirty="0"/>
          </a:p>
          <a:p>
            <a:pPr marL="0" indent="0">
              <a:buNone/>
            </a:pPr>
            <a:r>
              <a:rPr kumimoji="1" lang="ja-JP" altLang="en-US" dirty="0"/>
              <a:t>今回の手法を実データに応用すれば、審査項目ごとの影響度を定量的に把握でき</a:t>
            </a:r>
            <a:endParaRPr kumimoji="1" lang="en-US" altLang="ja-JP" dirty="0"/>
          </a:p>
          <a:p>
            <a:pPr marL="0" indent="0">
              <a:buNone/>
            </a:pPr>
            <a:r>
              <a:rPr lang="ja-JP" altLang="en-US" dirty="0"/>
              <a:t>優先的に確認すべき項目の判断や審査業務の効率化に役立てられる可能性があります。</a:t>
            </a:r>
            <a:endParaRPr kumimoji="1" lang="ja-JP" altLang="en-US" dirty="0"/>
          </a:p>
        </p:txBody>
      </p:sp>
    </p:spTree>
    <p:extLst>
      <p:ext uri="{BB962C8B-B14F-4D97-AF65-F5344CB8AC3E}">
        <p14:creationId xmlns:p14="http://schemas.microsoft.com/office/powerpoint/2010/main" val="1479403842"/>
      </p:ext>
    </p:extLst>
  </p:cSld>
  <p:clrMapOvr>
    <a:masterClrMapping/>
  </p:clrMapOvr>
</p:sld>
</file>

<file path=ppt/theme/theme1.xml><?xml version="1.0" encoding="utf-8"?>
<a:theme xmlns:a="http://schemas.openxmlformats.org/drawingml/2006/main" name="ファセット">
  <a:themeElements>
    <a:clrScheme name="ファセット">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ファセット">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ファセット">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188</TotalTime>
  <Words>686</Words>
  <Application>Microsoft Office PowerPoint</Application>
  <PresentationFormat>ワイド画面</PresentationFormat>
  <Paragraphs>130</Paragraphs>
  <Slides>13</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13</vt:i4>
      </vt:variant>
    </vt:vector>
  </HeadingPairs>
  <TitlesOfParts>
    <vt:vector size="17" baseType="lpstr">
      <vt:lpstr>Arial</vt:lpstr>
      <vt:lpstr>Trebuchet MS</vt:lpstr>
      <vt:lpstr>Wingdings 3</vt:lpstr>
      <vt:lpstr>ファセット</vt:lpstr>
      <vt:lpstr>データ分析 ポートフォリオ</vt:lpstr>
      <vt:lpstr>使用ツール</vt:lpstr>
      <vt:lpstr>目的・背景</vt:lpstr>
      <vt:lpstr>データ概要</vt:lpstr>
      <vt:lpstr>分析方法１</vt:lpstr>
      <vt:lpstr>分析方法２</vt:lpstr>
      <vt:lpstr>分析方法３</vt:lpstr>
      <vt:lpstr>処理フロー図</vt:lpstr>
      <vt:lpstr>分析結果１（項目別延滞率グラフ）</vt:lpstr>
      <vt:lpstr>分析結果２（項目別延滞率グラフ）</vt:lpstr>
      <vt:lpstr>分析結果３（項目別延滞率グラフ）</vt:lpstr>
      <vt:lpstr>分析結果４（影響度ランキング）</vt:lpstr>
      <vt:lpstr>考察・まとめ</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Ryosuke Oki</dc:creator>
  <cp:lastModifiedBy>Ryosuke Oki</cp:lastModifiedBy>
  <cp:revision>1</cp:revision>
  <dcterms:created xsi:type="dcterms:W3CDTF">2026-03-09T06:35:24Z</dcterms:created>
  <dcterms:modified xsi:type="dcterms:W3CDTF">2026-03-09T09:43:42Z</dcterms:modified>
</cp:coreProperties>
</file>